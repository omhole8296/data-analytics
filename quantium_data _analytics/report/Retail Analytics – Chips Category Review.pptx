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2"/>
  </p:notesMasterIdLst>
  <p:sldIdLst>
    <p:sldId id="4778" r:id="rId2"/>
    <p:sldId id="1010" r:id="rId3"/>
    <p:sldId id="4780" r:id="rId4"/>
    <p:sldId id="4779" r:id="rId5"/>
    <p:sldId id="4781" r:id="rId6"/>
    <p:sldId id="4784" r:id="rId7"/>
    <p:sldId id="4785" r:id="rId8"/>
    <p:sldId id="4786" r:id="rId9"/>
    <p:sldId id="4787" r:id="rId10"/>
    <p:sldId id="4788" r:id="rId11"/>
  </p:sldIdLst>
  <p:sldSz cx="12192000" cy="6858000"/>
  <p:notesSz cx="6858000" cy="9144000"/>
  <p:embeddedFontLst>
    <p:embeddedFont>
      <p:font typeface="Roboto" panose="02000000000000000000" pitchFamily="2" charset="0"/>
      <p:regular r:id="rId13"/>
      <p:bold r:id="rId14"/>
      <p:italic r:id="rId15"/>
      <p:boldItalic r:id="rId16"/>
    </p:embeddedFont>
    <p:embeddedFont>
      <p:font typeface="Roboto Light" panose="02000000000000000000" pitchFamily="2" charset="0"/>
      <p:regular r:id="rId17"/>
      <p:italic r:id="rId18"/>
    </p:embeddedFont>
    <p:embeddedFont>
      <p:font typeface="Roboto Medium" panose="02000000000000000000" pitchFamily="2" charset="0"/>
      <p:regular r:id="rId19"/>
      <p:italic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ntro" id="{9B66F1EC-40EB-43C9-BCE7-A17FF3658BEB}">
          <p14:sldIdLst>
            <p14:sldId id="4778"/>
            <p14:sldId id="1010"/>
            <p14:sldId id="4780"/>
            <p14:sldId id="4779"/>
            <p14:sldId id="4781"/>
            <p14:sldId id="4784"/>
            <p14:sldId id="4785"/>
            <p14:sldId id="4786"/>
            <p14:sldId id="4787"/>
            <p14:sldId id="478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36E68"/>
    <a:srgbClr val="C7C5C4"/>
    <a:srgbClr val="BCB5AC"/>
    <a:srgbClr val="80DF7C"/>
    <a:srgbClr val="8F73BF"/>
    <a:srgbClr val="C96478"/>
    <a:srgbClr val="EF6348"/>
    <a:srgbClr val="EF9C48"/>
    <a:srgbClr val="EACB79"/>
    <a:srgbClr val="7FDD7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694" autoAdjust="0"/>
    <p:restoredTop sz="91283" autoAdjust="0"/>
  </p:normalViewPr>
  <p:slideViewPr>
    <p:cSldViewPr snapToGrid="0" showGuides="1">
      <p:cViewPr varScale="1">
        <p:scale>
          <a:sx n="75" d="100"/>
          <a:sy n="75" d="100"/>
        </p:scale>
        <p:origin x="1267" y="53"/>
      </p:cViewPr>
      <p:guideLst/>
    </p:cSldViewPr>
  </p:slideViewPr>
  <p:outlineViewPr>
    <p:cViewPr>
      <p:scale>
        <a:sx n="33" d="100"/>
        <a:sy n="33" d="100"/>
      </p:scale>
      <p:origin x="0" y="-9250"/>
    </p:cViewPr>
  </p:outlineViewPr>
  <p:notesTextViewPr>
    <p:cViewPr>
      <p:scale>
        <a:sx n="100" d="100"/>
        <a:sy n="100" d="100"/>
      </p:scale>
      <p:origin x="0" y="0"/>
    </p:cViewPr>
  </p:notesTextViewPr>
  <p:sorterViewPr>
    <p:cViewPr>
      <p:scale>
        <a:sx n="75" d="100"/>
        <a:sy n="75" d="100"/>
      </p:scale>
      <p:origin x="0" y="-1123"/>
    </p:cViewPr>
  </p:sorterViewPr>
  <p:notesViewPr>
    <p:cSldViewPr snapToGrid="0">
      <p:cViewPr varScale="1">
        <p:scale>
          <a:sx n="60" d="100"/>
          <a:sy n="60" d="100"/>
        </p:scale>
        <p:origin x="3187"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1" i="0" u="none" strike="noStrike" kern="1200" spc="0" baseline="0">
                <a:solidFill>
                  <a:schemeClr val="tx1"/>
                </a:solidFill>
                <a:latin typeface="+mn-lt"/>
                <a:ea typeface="+mn-ea"/>
                <a:cs typeface="+mn-cs"/>
              </a:defRPr>
            </a:pPr>
            <a:r>
              <a:rPr lang="en-IN" sz="1862" b="1" i="0" u="none" strike="noStrike" baseline="0" dirty="0">
                <a:solidFill>
                  <a:schemeClr val="tx1"/>
                </a:solidFill>
              </a:rPr>
              <a:t>LIFESTAGE vs PREMIUM_CUSTOMER</a:t>
            </a:r>
            <a:endParaRPr lang="en-IN" b="1" dirty="0">
              <a:solidFill>
                <a:schemeClr val="tx1"/>
              </a:solidFill>
            </a:endParaRPr>
          </a:p>
        </c:rich>
      </c:tx>
      <c:overlay val="0"/>
      <c:spPr>
        <a:noFill/>
        <a:ln>
          <a:noFill/>
        </a:ln>
        <a:effectLst/>
      </c:spPr>
      <c:txPr>
        <a:bodyPr rot="0" spcFirstLastPara="1" vertOverflow="ellipsis" vert="horz" wrap="square" anchor="ctr" anchorCtr="1"/>
        <a:lstStyle/>
        <a:p>
          <a:pPr>
            <a:defRPr sz="1862" b="1" i="0" u="none" strike="noStrike" kern="1200" spc="0" baseline="0">
              <a:solidFill>
                <a:schemeClr val="tx1"/>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cat>
            <c:strRef>
              <c:f>Sheet1!$A$2:$A$8</c:f>
              <c:strCache>
                <c:ptCount val="7"/>
                <c:pt idx="0">
                  <c:v>OLDER SINGLES/COUPLES</c:v>
                </c:pt>
                <c:pt idx="1">
                  <c:v>RETIREES </c:v>
                </c:pt>
                <c:pt idx="2">
                  <c:v>OLDER FAMILIES</c:v>
                </c:pt>
                <c:pt idx="3">
                  <c:v>YOUNG FAMILIES </c:v>
                </c:pt>
                <c:pt idx="4">
                  <c:v>YOUNG SINGLES/COUPLES </c:v>
                </c:pt>
                <c:pt idx="5">
                  <c:v>MIDAGE SINGLES/COUPLES</c:v>
                </c:pt>
                <c:pt idx="6">
                  <c:v>NEW FAMILIES</c:v>
                </c:pt>
              </c:strCache>
            </c:strRef>
          </c:cat>
          <c:val>
            <c:numRef>
              <c:f>Sheet1!$B$2:$B$8</c:f>
              <c:numCache>
                <c:formatCode>General</c:formatCode>
                <c:ptCount val="7"/>
                <c:pt idx="0">
                  <c:v>137108.15</c:v>
                </c:pt>
                <c:pt idx="1">
                  <c:v>125292.1</c:v>
                </c:pt>
                <c:pt idx="2">
                  <c:v>115380.35</c:v>
                </c:pt>
                <c:pt idx="3">
                  <c:v>99164.5</c:v>
                </c:pt>
                <c:pt idx="4">
                  <c:v>91207.4</c:v>
                </c:pt>
                <c:pt idx="5">
                  <c:v>61985</c:v>
                </c:pt>
                <c:pt idx="6">
                  <c:v>17935.099999999999</c:v>
                </c:pt>
              </c:numCache>
            </c:numRef>
          </c:val>
          <c:extLst>
            <c:ext xmlns:c16="http://schemas.microsoft.com/office/drawing/2014/chart" uri="{C3380CC4-5D6E-409C-BE32-E72D297353CC}">
              <c16:uniqueId val="{00000000-87F6-42EC-9418-4DFACE97FE28}"/>
            </c:ext>
          </c:extLst>
        </c:ser>
        <c:ser>
          <c:idx val="1"/>
          <c:order val="1"/>
          <c:tx>
            <c:strRef>
              <c:f>Sheet1!$C$1</c:f>
              <c:strCache>
                <c:ptCount val="1"/>
                <c:pt idx="0">
                  <c:v>Column1</c:v>
                </c:pt>
              </c:strCache>
            </c:strRef>
          </c:tx>
          <c:spPr>
            <a:solidFill>
              <a:schemeClr val="accent3"/>
            </a:solidFill>
            <a:ln>
              <a:noFill/>
            </a:ln>
            <a:effectLst/>
          </c:spPr>
          <c:invertIfNegative val="0"/>
          <c:cat>
            <c:strRef>
              <c:f>Sheet1!$A$2:$A$8</c:f>
              <c:strCache>
                <c:ptCount val="7"/>
                <c:pt idx="0">
                  <c:v>OLDER SINGLES/COUPLES</c:v>
                </c:pt>
                <c:pt idx="1">
                  <c:v>RETIREES </c:v>
                </c:pt>
                <c:pt idx="2">
                  <c:v>OLDER FAMILIES</c:v>
                </c:pt>
                <c:pt idx="3">
                  <c:v>YOUNG FAMILIES </c:v>
                </c:pt>
                <c:pt idx="4">
                  <c:v>YOUNG SINGLES/COUPLES </c:v>
                </c:pt>
                <c:pt idx="5">
                  <c:v>MIDAGE SINGLES/COUPLES</c:v>
                </c:pt>
                <c:pt idx="6">
                  <c:v>NEW FAMILIES</c:v>
                </c:pt>
              </c:strCache>
            </c:strRef>
          </c:cat>
          <c:val>
            <c:numRef>
              <c:f>Sheet1!$C$2:$C$8</c:f>
              <c:numCache>
                <c:formatCode>General</c:formatCode>
                <c:ptCount val="7"/>
              </c:numCache>
            </c:numRef>
          </c:val>
          <c:extLst>
            <c:ext xmlns:c16="http://schemas.microsoft.com/office/drawing/2014/chart" uri="{C3380CC4-5D6E-409C-BE32-E72D297353CC}">
              <c16:uniqueId val="{00000001-87F6-42EC-9418-4DFACE97FE28}"/>
            </c:ext>
          </c:extLst>
        </c:ser>
        <c:ser>
          <c:idx val="2"/>
          <c:order val="2"/>
          <c:tx>
            <c:strRef>
              <c:f>Sheet1!$D$1</c:f>
              <c:strCache>
                <c:ptCount val="1"/>
                <c:pt idx="0">
                  <c:v>Column2</c:v>
                </c:pt>
              </c:strCache>
            </c:strRef>
          </c:tx>
          <c:spPr>
            <a:solidFill>
              <a:schemeClr val="accent5"/>
            </a:solidFill>
            <a:ln>
              <a:noFill/>
            </a:ln>
            <a:effectLst/>
          </c:spPr>
          <c:invertIfNegative val="0"/>
          <c:cat>
            <c:strRef>
              <c:f>Sheet1!$A$2:$A$8</c:f>
              <c:strCache>
                <c:ptCount val="7"/>
                <c:pt idx="0">
                  <c:v>OLDER SINGLES/COUPLES</c:v>
                </c:pt>
                <c:pt idx="1">
                  <c:v>RETIREES </c:v>
                </c:pt>
                <c:pt idx="2">
                  <c:v>OLDER FAMILIES</c:v>
                </c:pt>
                <c:pt idx="3">
                  <c:v>YOUNG FAMILIES </c:v>
                </c:pt>
                <c:pt idx="4">
                  <c:v>YOUNG SINGLES/COUPLES </c:v>
                </c:pt>
                <c:pt idx="5">
                  <c:v>MIDAGE SINGLES/COUPLES</c:v>
                </c:pt>
                <c:pt idx="6">
                  <c:v>NEW FAMILIES</c:v>
                </c:pt>
              </c:strCache>
            </c:strRef>
          </c:cat>
          <c:val>
            <c:numRef>
              <c:f>Sheet1!$D$2:$D$8</c:f>
              <c:numCache>
                <c:formatCode>General</c:formatCode>
                <c:ptCount val="7"/>
              </c:numCache>
            </c:numRef>
          </c:val>
          <c:extLst>
            <c:ext xmlns:c16="http://schemas.microsoft.com/office/drawing/2014/chart" uri="{C3380CC4-5D6E-409C-BE32-E72D297353CC}">
              <c16:uniqueId val="{00000002-87F6-42EC-9418-4DFACE97FE28}"/>
            </c:ext>
          </c:extLst>
        </c:ser>
        <c:dLbls>
          <c:showLegendKey val="0"/>
          <c:showVal val="0"/>
          <c:showCatName val="0"/>
          <c:showSerName val="0"/>
          <c:showPercent val="0"/>
          <c:showBubbleSize val="0"/>
        </c:dLbls>
        <c:gapWidth val="219"/>
        <c:axId val="1759000688"/>
        <c:axId val="1927057840"/>
      </c:barChart>
      <c:catAx>
        <c:axId val="17590006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crossAx val="1927057840"/>
        <c:crosses val="autoZero"/>
        <c:auto val="1"/>
        <c:lblAlgn val="ctr"/>
        <c:lblOffset val="100"/>
        <c:noMultiLvlLbl val="0"/>
      </c:catAx>
      <c:valAx>
        <c:axId val="19270578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175900068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cap="all" baseline="0">
                <a:solidFill>
                  <a:schemeClr val="tx1">
                    <a:lumMod val="65000"/>
                    <a:lumOff val="35000"/>
                  </a:schemeClr>
                </a:solidFill>
                <a:latin typeface="+mn-lt"/>
                <a:ea typeface="+mn-ea"/>
                <a:cs typeface="+mn-cs"/>
              </a:defRPr>
            </a:pPr>
            <a:r>
              <a:rPr lang="en-US" dirty="0">
                <a:solidFill>
                  <a:schemeClr val="tx1"/>
                </a:solidFill>
              </a:rPr>
              <a:t>PREMIUM_CUSTOMER</a:t>
            </a:r>
          </a:p>
        </c:rich>
      </c:tx>
      <c:overlay val="0"/>
      <c:spPr>
        <a:noFill/>
        <a:ln>
          <a:noFill/>
        </a:ln>
        <a:effectLst/>
      </c:spPr>
      <c:txPr>
        <a:bodyPr rot="0" spcFirstLastPara="1" vertOverflow="ellipsis" vert="horz" wrap="square" anchor="ctr" anchorCtr="1"/>
        <a:lstStyle/>
        <a:p>
          <a:pPr>
            <a:defRPr sz="2128" b="1" i="0" u="none" strike="noStrike" kern="1200" cap="all"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PREMIUM_CUSTOMER</c:v>
                </c:pt>
              </c:strCache>
            </c:strRef>
          </c:tx>
          <c:dPt>
            <c:idx val="0"/>
            <c:bubble3D val="0"/>
            <c:spPr>
              <a:solidFill>
                <a:schemeClr val="accent6"/>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F0CD-4FF3-A389-F520484BAB30}"/>
              </c:ext>
            </c:extLst>
          </c:dPt>
          <c:dPt>
            <c:idx val="1"/>
            <c:bubble3D val="0"/>
            <c:spPr>
              <a:solidFill>
                <a:schemeClr val="accent5"/>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3-F0CD-4FF3-A389-F520484BAB30}"/>
              </c:ext>
            </c:extLst>
          </c:dPt>
          <c:dPt>
            <c:idx val="2"/>
            <c:bubble3D val="0"/>
            <c:spPr>
              <a:solidFill>
                <a:schemeClr val="accent4"/>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5-F0CD-4FF3-A389-F520484BAB30}"/>
              </c:ext>
            </c:extLst>
          </c:dPt>
          <c:dPt>
            <c:idx val="3"/>
            <c:bubble3D val="0"/>
            <c:spPr>
              <a:solidFill>
                <a:schemeClr val="accent6">
                  <a:lumMod val="60000"/>
                </a:schemeClr>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7-F0CD-4FF3-A389-F520484BAB30}"/>
              </c:ext>
            </c:extLst>
          </c:dPt>
          <c:dLbls>
            <c:dLbl>
              <c:idx val="0"/>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tx1"/>
                      </a:solidFill>
                      <a:latin typeface="+mn-lt"/>
                      <a:ea typeface="+mn-ea"/>
                      <a:cs typeface="+mn-cs"/>
                    </a:defRPr>
                  </a:pPr>
                  <a:endParaRPr lang="en-US"/>
                </a:p>
              </c:txPr>
              <c:dLblPos val="outEnd"/>
              <c:showLegendKey val="0"/>
              <c:showVal val="0"/>
              <c:showCatName val="1"/>
              <c:showSerName val="0"/>
              <c:showPercent val="0"/>
              <c:showBubbleSize val="0"/>
              <c:extLst>
                <c:ext xmlns:c16="http://schemas.microsoft.com/office/drawing/2014/chart" uri="{C3380CC4-5D6E-409C-BE32-E72D297353CC}">
                  <c16:uniqueId val="{00000001-F0CD-4FF3-A389-F520484BAB30}"/>
                </c:ext>
              </c:extLst>
            </c:dLbl>
            <c:dLbl>
              <c:idx val="1"/>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tx1"/>
                      </a:solidFill>
                      <a:latin typeface="+mn-lt"/>
                      <a:ea typeface="+mn-ea"/>
                      <a:cs typeface="+mn-cs"/>
                    </a:defRPr>
                  </a:pPr>
                  <a:endParaRPr lang="en-US"/>
                </a:p>
              </c:txPr>
              <c:dLblPos val="outEnd"/>
              <c:showLegendKey val="0"/>
              <c:showVal val="0"/>
              <c:showCatName val="1"/>
              <c:showSerName val="0"/>
              <c:showPercent val="0"/>
              <c:showBubbleSize val="0"/>
              <c:extLst>
                <c:ext xmlns:c16="http://schemas.microsoft.com/office/drawing/2014/chart" uri="{C3380CC4-5D6E-409C-BE32-E72D297353CC}">
                  <c16:uniqueId val="{00000003-F0CD-4FF3-A389-F520484BAB30}"/>
                </c:ext>
              </c:extLst>
            </c:dLbl>
            <c:dLbl>
              <c:idx val="2"/>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tx1"/>
                      </a:solidFill>
                      <a:latin typeface="+mn-lt"/>
                      <a:ea typeface="+mn-ea"/>
                      <a:cs typeface="+mn-cs"/>
                    </a:defRPr>
                  </a:pPr>
                  <a:endParaRPr lang="en-US"/>
                </a:p>
              </c:txPr>
              <c:dLblPos val="outEnd"/>
              <c:showLegendKey val="0"/>
              <c:showVal val="0"/>
              <c:showCatName val="1"/>
              <c:showSerName val="0"/>
              <c:showPercent val="0"/>
              <c:showBubbleSize val="0"/>
              <c:extLst>
                <c:ext xmlns:c16="http://schemas.microsoft.com/office/drawing/2014/chart" uri="{C3380CC4-5D6E-409C-BE32-E72D297353CC}">
                  <c16:uniqueId val="{00000005-F0CD-4FF3-A389-F520484BAB30}"/>
                </c:ext>
              </c:extLst>
            </c:dLbl>
            <c:dLbl>
              <c:idx val="3"/>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tx1"/>
                      </a:solidFill>
                      <a:latin typeface="+mn-lt"/>
                      <a:ea typeface="+mn-ea"/>
                      <a:cs typeface="+mn-cs"/>
                    </a:defRPr>
                  </a:pPr>
                  <a:endParaRPr lang="en-US"/>
                </a:p>
              </c:txPr>
              <c:dLblPos val="outEnd"/>
              <c:showLegendKey val="0"/>
              <c:showVal val="0"/>
              <c:showCatName val="1"/>
              <c:showSerName val="0"/>
              <c:showPercent val="0"/>
              <c:showBubbleSize val="0"/>
              <c:extLst>
                <c:ext xmlns:c16="http://schemas.microsoft.com/office/drawing/2014/chart" uri="{C3380CC4-5D6E-409C-BE32-E72D297353CC}">
                  <c16:uniqueId val="{00000007-F0CD-4FF3-A389-F520484BAB30}"/>
                </c:ext>
              </c:extLst>
            </c:dLbl>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tx1"/>
                    </a:solidFill>
                    <a:latin typeface="+mn-lt"/>
                    <a:ea typeface="+mn-ea"/>
                    <a:cs typeface="+mn-cs"/>
                  </a:defRPr>
                </a:pPr>
                <a:endParaRPr lang="en-US"/>
              </a:p>
            </c:txPr>
            <c:dLblPos val="outEnd"/>
            <c:showLegendKey val="0"/>
            <c:showVal val="0"/>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3"/>
                <c:pt idx="0">
                  <c:v>Budget</c:v>
                </c:pt>
                <c:pt idx="1">
                  <c:v>Mainstream</c:v>
                </c:pt>
                <c:pt idx="2">
                  <c:v>Premium       </c:v>
                </c:pt>
              </c:strCache>
            </c:strRef>
          </c:cat>
          <c:val>
            <c:numRef>
              <c:f>Sheet1!$B$2:$B$5</c:f>
              <c:numCache>
                <c:formatCode>General</c:formatCode>
                <c:ptCount val="4"/>
                <c:pt idx="0">
                  <c:v>225501.25</c:v>
                </c:pt>
                <c:pt idx="1">
                  <c:v>254394.2</c:v>
                </c:pt>
                <c:pt idx="2">
                  <c:v>168177.15</c:v>
                </c:pt>
              </c:numCache>
            </c:numRef>
          </c:val>
          <c:extLst>
            <c:ext xmlns:c16="http://schemas.microsoft.com/office/drawing/2014/chart" uri="{C3380CC4-5D6E-409C-BE32-E72D297353CC}">
              <c16:uniqueId val="{00000008-F0CD-4FF3-A389-F520484BAB30}"/>
            </c:ext>
          </c:extLst>
        </c:ser>
        <c:dLbls>
          <c:dLblPos val="outEnd"/>
          <c:showLegendKey val="0"/>
          <c:showVal val="0"/>
          <c:showCatName val="1"/>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4400" b="1" i="0" u="none" strike="noStrike" kern="1200" baseline="0">
                <a:solidFill>
                  <a:schemeClr val="tx1"/>
                </a:solidFill>
                <a:latin typeface="+mn-lt"/>
                <a:ea typeface="+mn-ea"/>
                <a:cs typeface="+mn-cs"/>
              </a:defRPr>
            </a:pPr>
            <a:r>
              <a:rPr lang="en-IN" sz="4400">
                <a:solidFill>
                  <a:schemeClr val="tx1"/>
                </a:solidFill>
              </a:rPr>
              <a:t>Store 77 Analysis</a:t>
            </a:r>
            <a:endParaRPr lang="en-AU" sz="4400">
              <a:solidFill>
                <a:schemeClr val="tx1"/>
              </a:solidFill>
            </a:endParaRPr>
          </a:p>
        </c:rich>
      </c:tx>
      <c:overlay val="0"/>
      <c:spPr>
        <a:noFill/>
        <a:ln>
          <a:noFill/>
        </a:ln>
        <a:effectLst/>
      </c:spPr>
      <c:txPr>
        <a:bodyPr rot="0" spcFirstLastPara="1" vertOverflow="ellipsis" vert="horz" wrap="square" anchor="ctr" anchorCtr="1"/>
        <a:lstStyle/>
        <a:p>
          <a:pPr>
            <a:defRPr sz="4400" b="1" i="0" u="none" strike="noStrike" kern="1200" baseline="0">
              <a:solidFill>
                <a:schemeClr val="tx1"/>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Sheet1!$A$2:$A$6</c:f>
              <c:strCache>
                <c:ptCount val="5"/>
                <c:pt idx="0">
                  <c:v>2019-02	</c:v>
                </c:pt>
                <c:pt idx="1">
                  <c:v>2019-03</c:v>
                </c:pt>
                <c:pt idx="2">
                  <c:v>2019-04</c:v>
                </c:pt>
                <c:pt idx="3">
                  <c:v>2019-05</c:v>
                </c:pt>
                <c:pt idx="4">
                  <c:v>2019-06</c:v>
                </c:pt>
              </c:strCache>
            </c:strRef>
          </c:cat>
          <c:val>
            <c:numRef>
              <c:f>Sheet1!$B$2:$B$6</c:f>
              <c:numCache>
                <c:formatCode>General</c:formatCode>
                <c:ptCount val="5"/>
                <c:pt idx="0">
                  <c:v>1197.7</c:v>
                </c:pt>
                <c:pt idx="1">
                  <c:v>1124.4000000000001</c:v>
                </c:pt>
                <c:pt idx="2">
                  <c:v>920</c:v>
                </c:pt>
                <c:pt idx="3">
                  <c:v>996.9</c:v>
                </c:pt>
                <c:pt idx="4">
                  <c:v>1037.3</c:v>
                </c:pt>
              </c:numCache>
            </c:numRef>
          </c:val>
          <c:extLst>
            <c:ext xmlns:c16="http://schemas.microsoft.com/office/drawing/2014/chart" uri="{C3380CC4-5D6E-409C-BE32-E72D297353CC}">
              <c16:uniqueId val="{00000000-3F38-4A3B-9AAA-373864D7CFF5}"/>
            </c:ext>
          </c:extLst>
        </c:ser>
        <c:ser>
          <c:idx val="1"/>
          <c:order val="1"/>
          <c:tx>
            <c:strRef>
              <c:f>Sheet1!$C$1</c:f>
              <c:strCache>
                <c:ptCount val="1"/>
                <c:pt idx="0">
                  <c:v>Column2</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Sheet1!$A$2:$A$6</c:f>
              <c:strCache>
                <c:ptCount val="5"/>
                <c:pt idx="0">
                  <c:v>2019-02	</c:v>
                </c:pt>
                <c:pt idx="1">
                  <c:v>2019-03</c:v>
                </c:pt>
                <c:pt idx="2">
                  <c:v>2019-04</c:v>
                </c:pt>
                <c:pt idx="3">
                  <c:v>2019-05</c:v>
                </c:pt>
                <c:pt idx="4">
                  <c:v>2019-06</c:v>
                </c:pt>
              </c:strCache>
            </c:strRef>
          </c:cat>
          <c:val>
            <c:numRef>
              <c:f>Sheet1!$C$2:$C$6</c:f>
              <c:numCache>
                <c:formatCode>General</c:formatCode>
                <c:ptCount val="5"/>
              </c:numCache>
            </c:numRef>
          </c:val>
          <c:extLst>
            <c:ext xmlns:c16="http://schemas.microsoft.com/office/drawing/2014/chart" uri="{C3380CC4-5D6E-409C-BE32-E72D297353CC}">
              <c16:uniqueId val="{00000001-3F38-4A3B-9AAA-373864D7CFF5}"/>
            </c:ext>
          </c:extLst>
        </c:ser>
        <c:ser>
          <c:idx val="2"/>
          <c:order val="2"/>
          <c:tx>
            <c:strRef>
              <c:f>Sheet1!$D$1</c:f>
              <c:strCache>
                <c:ptCount val="1"/>
                <c:pt idx="0">
                  <c:v>Column1</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Sheet1!$A$2:$A$6</c:f>
              <c:strCache>
                <c:ptCount val="5"/>
                <c:pt idx="0">
                  <c:v>2019-02	</c:v>
                </c:pt>
                <c:pt idx="1">
                  <c:v>2019-03</c:v>
                </c:pt>
                <c:pt idx="2">
                  <c:v>2019-04</c:v>
                </c:pt>
                <c:pt idx="3">
                  <c:v>2019-05</c:v>
                </c:pt>
                <c:pt idx="4">
                  <c:v>2019-06</c:v>
                </c:pt>
              </c:strCache>
            </c:strRef>
          </c:cat>
          <c:val>
            <c:numRef>
              <c:f>Sheet1!$D$2:$D$6</c:f>
              <c:numCache>
                <c:formatCode>General</c:formatCode>
                <c:ptCount val="5"/>
              </c:numCache>
            </c:numRef>
          </c:val>
          <c:extLst>
            <c:ext xmlns:c16="http://schemas.microsoft.com/office/drawing/2014/chart" uri="{C3380CC4-5D6E-409C-BE32-E72D297353CC}">
              <c16:uniqueId val="{00000002-3F38-4A3B-9AAA-373864D7CFF5}"/>
            </c:ext>
          </c:extLst>
        </c:ser>
        <c:dLbls>
          <c:dLblPos val="outEnd"/>
          <c:showLegendKey val="0"/>
          <c:showVal val="1"/>
          <c:showCatName val="0"/>
          <c:showSerName val="0"/>
          <c:showPercent val="0"/>
          <c:showBubbleSize val="0"/>
        </c:dLbls>
        <c:gapWidth val="100"/>
        <c:overlap val="-24"/>
        <c:axId val="1619462080"/>
        <c:axId val="1619463040"/>
      </c:barChart>
      <c:catAx>
        <c:axId val="1619462080"/>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1619463040"/>
        <c:crosses val="autoZero"/>
        <c:auto val="1"/>
        <c:lblAlgn val="ctr"/>
        <c:lblOffset val="100"/>
        <c:noMultiLvlLbl val="0"/>
      </c:catAx>
      <c:valAx>
        <c:axId val="1619463040"/>
        <c:scaling>
          <c:orientation val="minMax"/>
        </c:scaling>
        <c:delete val="0"/>
        <c:axPos val="l"/>
        <c:majorGridlines>
          <c:spPr>
            <a:ln w="9525" cap="flat" cmpd="sng" algn="ctr">
              <a:solidFill>
                <a:schemeClr val="tx2">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161946208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cs:styleClr val="auto"/>
    </cs:fontRef>
    <cs:defRPr sz="133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33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7">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lumOff val="2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49F58C-0F99-4EE9-8657-ECB62F226884}" type="datetimeFigureOut">
              <a:rPr lang="en-AU" smtClean="0"/>
              <a:t>22/03/2026</a:t>
            </a:fld>
            <a:endParaRPr lang="en-AU"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566AC9-2A0D-473B-9623-D34100E64E4F}" type="slidenum">
              <a:rPr lang="en-AU" smtClean="0"/>
              <a:t>‹#›</a:t>
            </a:fld>
            <a:endParaRPr lang="en-AU" dirty="0"/>
          </a:p>
        </p:txBody>
      </p:sp>
    </p:spTree>
    <p:extLst>
      <p:ext uri="{BB962C8B-B14F-4D97-AF65-F5344CB8AC3E}">
        <p14:creationId xmlns:p14="http://schemas.microsoft.com/office/powerpoint/2010/main" val="3369738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youtube.com/watch?v=Zq1QDAkoRzU"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file:///\\quantium.com.au.local\quantiumgroup\Company%20Reference\Brand%20&amp;%20Design\Brand%20videos\Q%20Privacy.mp4"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000005"/>
                </a:solidFill>
                <a:latin typeface="Roboto Light" panose="02000000000000000000" pitchFamily="2" charset="0"/>
                <a:ea typeface="Roboto Light" panose="02000000000000000000" pitchFamily="2" charset="0"/>
              </a:rPr>
              <a:t>To view Privacy video explaining how important data privacy is to Quantium, please click here: </a:t>
            </a:r>
            <a:r>
              <a:rPr lang="en-AU" sz="1200" dirty="0">
                <a:solidFill>
                  <a:srgbClr val="000005"/>
                </a:solidFill>
                <a:latin typeface="Roboto Light" panose="02000000000000000000" pitchFamily="2" charset="0"/>
                <a:ea typeface="Roboto Light" panose="02000000000000000000" pitchFamily="2" charset="0"/>
                <a:hlinkClick r:id="rId3"/>
              </a:rPr>
              <a:t>https://www.youtube.com/watch?v=Zq1QDAkoRzU</a:t>
            </a:r>
            <a:endParaRPr lang="en-AU" sz="1200" dirty="0">
              <a:solidFill>
                <a:srgbClr val="000005"/>
              </a:solidFill>
              <a:latin typeface="Roboto Light" panose="02000000000000000000" pitchFamily="2" charset="0"/>
              <a:ea typeface="Roboto Light"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000005"/>
                </a:solidFill>
                <a:latin typeface="Roboto Light" panose="02000000000000000000" pitchFamily="2" charset="0"/>
                <a:ea typeface="Roboto Light" panose="02000000000000000000" pitchFamily="2" charset="0"/>
              </a:rPr>
              <a:t>or here </a:t>
            </a:r>
            <a:r>
              <a:rPr lang="en-AU" sz="1200" dirty="0">
                <a:solidFill>
                  <a:srgbClr val="000005"/>
                </a:solidFill>
                <a:latin typeface="Roboto Light" panose="02000000000000000000" pitchFamily="2" charset="0"/>
                <a:ea typeface="Roboto Light" panose="02000000000000000000" pitchFamily="2" charset="0"/>
                <a:hlinkClick r:id="rId4" action="ppaction://hlinkfile"/>
              </a:rPr>
              <a:t>Q:\Company Reference\Brand &amp; Design\Brand videos\Q Privacy.mp4</a:t>
            </a:r>
            <a:endParaRPr lang="en-AU" sz="1200" dirty="0">
              <a:solidFill>
                <a:srgbClr val="000005"/>
              </a:solidFill>
              <a:latin typeface="Roboto Light" panose="02000000000000000000" pitchFamily="2" charset="0"/>
              <a:ea typeface="Roboto Light" panose="02000000000000000000" pitchFamily="2" charset="0"/>
            </a:endParaRP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At Quantium, we believe that data is the behavioural footprint of humanity and that it has to be treated with the utmost care and responsibility. </a:t>
            </a:r>
          </a:p>
          <a:p>
            <a:r>
              <a:rPr lang="en-AU" sz="1200" i="0" kern="1200" dirty="0">
                <a:solidFill>
                  <a:schemeClr val="tx1"/>
                </a:solidFill>
                <a:effectLst/>
                <a:latin typeface="+mn-lt"/>
                <a:ea typeface="+mn-ea"/>
                <a:cs typeface="+mn-cs"/>
              </a:rPr>
              <a:t>Histories, attitudes, indeed lives are stored within it in ways that aren’t always apparent – and that’s what makes its potential so powerful. </a:t>
            </a: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To work with it responsibly, sensitively, we set ourselves the highest data privacy protection and governance standards. </a:t>
            </a:r>
          </a:p>
          <a:p>
            <a:r>
              <a:rPr lang="en-AU" sz="1200" i="0" kern="1200" dirty="0">
                <a:solidFill>
                  <a:schemeClr val="tx1"/>
                </a:solidFill>
                <a:effectLst/>
                <a:latin typeface="+mn-lt"/>
                <a:ea typeface="+mn-ea"/>
                <a:cs typeface="+mn-cs"/>
              </a:rPr>
              <a:t>We have spent 17 years perfecting privacy-by-design and secure-by-design principles. Central to this is not holding any personally identifiable information about people – </a:t>
            </a:r>
          </a:p>
          <a:p>
            <a:r>
              <a:rPr lang="en-AU" sz="1200" i="0" kern="1200" dirty="0">
                <a:solidFill>
                  <a:schemeClr val="tx1"/>
                </a:solidFill>
                <a:effectLst/>
                <a:latin typeface="+mn-lt"/>
                <a:ea typeface="+mn-ea"/>
                <a:cs typeface="+mn-cs"/>
              </a:rPr>
              <a:t>we neither receive it, and put the necessary protections in place to be unable to decipher it. </a:t>
            </a: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Every aspect of handling data is safeguarded: from its de-identification, to its encryption – data security is paramount and of the highest grade. </a:t>
            </a:r>
          </a:p>
          <a:p>
            <a:r>
              <a:rPr lang="en-AU" sz="1200" i="0" kern="1200" dirty="0">
                <a:solidFill>
                  <a:schemeClr val="tx1"/>
                </a:solidFill>
                <a:effectLst/>
                <a:latin typeface="+mn-lt"/>
                <a:ea typeface="+mn-ea"/>
                <a:cs typeface="+mn-cs"/>
              </a:rPr>
              <a:t>We pride ourselves on gaining the trust of iconic organisations around the world through years of securely working with their data, </a:t>
            </a:r>
          </a:p>
          <a:p>
            <a:r>
              <a:rPr lang="en-AU" sz="1200" i="0" kern="1200" dirty="0">
                <a:solidFill>
                  <a:schemeClr val="tx1"/>
                </a:solidFill>
                <a:effectLst/>
                <a:latin typeface="+mn-lt"/>
                <a:ea typeface="+mn-ea"/>
                <a:cs typeface="+mn-cs"/>
              </a:rPr>
              <a:t>and in turn the trust that builds with their stakeholders.</a:t>
            </a:r>
          </a:p>
          <a:p>
            <a:endParaRPr lang="en-AU" i="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566AC9-2A0D-473B-9623-D34100E64E4F}" type="slidenum">
              <a:rPr kumimoji="0" lang="en-AU" sz="1200" b="0" i="0" u="none" strike="noStrike" kern="1200" cap="none" spc="0" normalizeH="0" baseline="0" noProof="0" smtClean="0">
                <a:ln>
                  <a:noFill/>
                </a:ln>
                <a:solidFill>
                  <a:prstClr val="black"/>
                </a:solidFill>
                <a:effectLst/>
                <a:uLnTx/>
                <a:uFillTx/>
                <a:latin typeface="Roboto Light" panose="020000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AU" sz="1200" b="0" i="0" u="none" strike="noStrike" kern="1200" cap="none" spc="0" normalizeH="0" baseline="0" noProof="0" dirty="0">
              <a:ln>
                <a:noFill/>
              </a:ln>
              <a:solidFill>
                <a:prstClr val="black"/>
              </a:solidFill>
              <a:effectLst/>
              <a:uLnTx/>
              <a:uFillTx/>
              <a:latin typeface="Roboto Light" panose="02000000000000000000" pitchFamily="2" charset="0"/>
              <a:ea typeface="+mn-ea"/>
              <a:cs typeface="+mn-cs"/>
            </a:endParaRPr>
          </a:p>
        </p:txBody>
      </p:sp>
    </p:spTree>
    <p:extLst>
      <p:ext uri="{BB962C8B-B14F-4D97-AF65-F5344CB8AC3E}">
        <p14:creationId xmlns:p14="http://schemas.microsoft.com/office/powerpoint/2010/main" val="10937493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4566AC9-2A0D-473B-9623-D34100E64E4F}" type="slidenum">
              <a:rPr lang="en-AU" smtClean="0"/>
              <a:t>4</a:t>
            </a:fld>
            <a:endParaRPr lang="en-AU" dirty="0"/>
          </a:p>
        </p:txBody>
      </p:sp>
    </p:spTree>
    <p:extLst>
      <p:ext uri="{BB962C8B-B14F-4D97-AF65-F5344CB8AC3E}">
        <p14:creationId xmlns:p14="http://schemas.microsoft.com/office/powerpoint/2010/main" val="54483987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beac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A55C9-5B74-4835-9859-F8241E4888D1}"/>
              </a:ext>
            </a:extLst>
          </p:cNvPr>
          <p:cNvSpPr>
            <a:spLocks noGrp="1"/>
          </p:cNvSpPr>
          <p:nvPr>
            <p:ph type="ctrTitle" hasCustomPrompt="1"/>
          </p:nvPr>
        </p:nvSpPr>
        <p:spPr>
          <a:xfrm>
            <a:off x="1212852" y="1537494"/>
            <a:ext cx="4086224" cy="2387600"/>
          </a:xfrm>
          <a:prstGeom prst="rect">
            <a:avLst/>
          </a:prstGeom>
        </p:spPr>
        <p:txBody>
          <a:bodyPr lIns="0" anchor="b">
            <a:noAutofit/>
          </a:bodyPr>
          <a:lstStyle>
            <a:lvl1pPr algn="l">
              <a:lnSpc>
                <a:spcPct val="100000"/>
              </a:lnSpc>
              <a:defRPr sz="2700">
                <a:solidFill>
                  <a:srgbClr val="000005"/>
                </a:solidFill>
                <a:latin typeface="Roboto Medium" panose="02000000000000000000" pitchFamily="2" charset="0"/>
                <a:ea typeface="Roboto Medium" panose="02000000000000000000" pitchFamily="2" charset="0"/>
              </a:defRPr>
            </a:lvl1pPr>
          </a:lstStyle>
          <a:p>
            <a:r>
              <a:rPr lang="en-US" dirty="0"/>
              <a:t>Insert title</a:t>
            </a:r>
            <a:endParaRPr lang="en-AU" dirty="0"/>
          </a:p>
        </p:txBody>
      </p:sp>
      <p:sp>
        <p:nvSpPr>
          <p:cNvPr id="3" name="Subtitle 2">
            <a:extLst>
              <a:ext uri="{FF2B5EF4-FFF2-40B4-BE49-F238E27FC236}">
                <a16:creationId xmlns:a16="http://schemas.microsoft.com/office/drawing/2014/main" id="{A8BAD180-19AA-445F-85D5-44F3F0AB654B}"/>
              </a:ext>
            </a:extLst>
          </p:cNvPr>
          <p:cNvSpPr>
            <a:spLocks noGrp="1"/>
          </p:cNvSpPr>
          <p:nvPr>
            <p:ph type="subTitle" idx="1" hasCustomPrompt="1"/>
          </p:nvPr>
        </p:nvSpPr>
        <p:spPr>
          <a:xfrm>
            <a:off x="1212851" y="4126706"/>
            <a:ext cx="4086224" cy="1236662"/>
          </a:xfrm>
          <a:prstGeom prst="rect">
            <a:avLst/>
          </a:prstGeom>
        </p:spPr>
        <p:txBody>
          <a:bodyPr lIns="0">
            <a:noAutofit/>
          </a:bodyPr>
          <a:lstStyle>
            <a:lvl1pPr marL="0" indent="0" algn="l">
              <a:lnSpc>
                <a:spcPct val="100000"/>
              </a:lnSpc>
              <a:buNone/>
              <a:defRPr sz="1800">
                <a:solidFill>
                  <a:srgbClr val="000005"/>
                </a:solidFill>
                <a:latin typeface="Roboto Light" panose="02000000000000000000" pitchFamily="2" charset="0"/>
                <a:ea typeface="Roboto Light" panose="020000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Prepared for / Prepared by:</a:t>
            </a:r>
            <a:endParaRPr lang="en-AU" dirty="0"/>
          </a:p>
        </p:txBody>
      </p:sp>
      <p:sp>
        <p:nvSpPr>
          <p:cNvPr id="4" name="Rectangle 3">
            <a:extLst>
              <a:ext uri="{FF2B5EF4-FFF2-40B4-BE49-F238E27FC236}">
                <a16:creationId xmlns:a16="http://schemas.microsoft.com/office/drawing/2014/main" id="{33AF9D96-C52E-4309-BF03-B3E573906B78}"/>
              </a:ext>
            </a:extLst>
          </p:cNvPr>
          <p:cNvSpPr/>
          <p:nvPr userDrawn="1"/>
        </p:nvSpPr>
        <p:spPr>
          <a:xfrm>
            <a:off x="169682" y="6202837"/>
            <a:ext cx="377072" cy="377072"/>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Text Placeholder 14">
            <a:extLst>
              <a:ext uri="{FF2B5EF4-FFF2-40B4-BE49-F238E27FC236}">
                <a16:creationId xmlns:a16="http://schemas.microsoft.com/office/drawing/2014/main" id="{C70ED5BD-1957-480E-8121-92F75D538BB9}"/>
              </a:ext>
            </a:extLst>
          </p:cNvPr>
          <p:cNvSpPr>
            <a:spLocks noGrp="1"/>
          </p:cNvSpPr>
          <p:nvPr>
            <p:ph type="body" sz="quarter" idx="10" hasCustomPrompt="1"/>
          </p:nvPr>
        </p:nvSpPr>
        <p:spPr>
          <a:xfrm>
            <a:off x="1212851" y="650875"/>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Light" panose="02000000000000000000" pitchFamily="2" charset="0"/>
                <a:ea typeface="Roboto Light" panose="02000000000000000000" pitchFamily="2" charset="0"/>
                <a:cs typeface="+mn-cs"/>
              </a:defRPr>
            </a:lvl1pPr>
          </a:lstStyle>
          <a:p>
            <a:pPr lvl="0"/>
            <a:r>
              <a:rPr lang="en-US" dirty="0"/>
              <a:t>Day Month Year</a:t>
            </a:r>
            <a:endParaRPr lang="en-AU" dirty="0"/>
          </a:p>
        </p:txBody>
      </p:sp>
      <p:sp>
        <p:nvSpPr>
          <p:cNvPr id="16" name="Text Placeholder 14">
            <a:extLst>
              <a:ext uri="{FF2B5EF4-FFF2-40B4-BE49-F238E27FC236}">
                <a16:creationId xmlns:a16="http://schemas.microsoft.com/office/drawing/2014/main" id="{E7D1F94D-475D-4F95-BDAD-887DFD7638A0}"/>
              </a:ext>
            </a:extLst>
          </p:cNvPr>
          <p:cNvSpPr>
            <a:spLocks noGrp="1"/>
          </p:cNvSpPr>
          <p:nvPr>
            <p:ph type="body" sz="quarter" idx="11" hasCustomPrompt="1"/>
          </p:nvPr>
        </p:nvSpPr>
        <p:spPr>
          <a:xfrm>
            <a:off x="1212851" y="458789"/>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Medium" panose="02000000000000000000" pitchFamily="2" charset="0"/>
                <a:ea typeface="Roboto Medium" panose="02000000000000000000" pitchFamily="2" charset="0"/>
                <a:cs typeface="+mn-cs"/>
              </a:defRPr>
            </a:lvl1pPr>
          </a:lstStyle>
          <a:p>
            <a:pPr lvl="0"/>
            <a:r>
              <a:rPr lang="en-US" dirty="0"/>
              <a:t>Draft</a:t>
            </a:r>
            <a:endParaRPr lang="en-AU" dirty="0"/>
          </a:p>
        </p:txBody>
      </p:sp>
      <p:sp>
        <p:nvSpPr>
          <p:cNvPr id="8" name="Rectangle 7">
            <a:extLst>
              <a:ext uri="{FF2B5EF4-FFF2-40B4-BE49-F238E27FC236}">
                <a16:creationId xmlns:a16="http://schemas.microsoft.com/office/drawing/2014/main" id="{1CB48D92-F292-4AC0-9DCF-7D1B9121CACF}"/>
              </a:ext>
            </a:extLst>
          </p:cNvPr>
          <p:cNvSpPr/>
          <p:nvPr userDrawn="1"/>
        </p:nvSpPr>
        <p:spPr>
          <a:xfrm>
            <a:off x="7580399" y="-1"/>
            <a:ext cx="4611600" cy="6858000"/>
          </a:xfrm>
          <a:prstGeom prst="rect">
            <a:avLst/>
          </a:prstGeom>
          <a:blipFill>
            <a:blip r:embed="rId2"/>
            <a:srcRect/>
            <a:stretch>
              <a:fillRect t="-16" b="-1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400" dirty="0" err="1">
              <a:solidFill>
                <a:srgbClr val="000005"/>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263806692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IC, privacy &amp; ISO">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90E6764-15AC-4B75-BEB7-54DF176242D1}"/>
              </a:ext>
            </a:extLst>
          </p:cNvPr>
          <p:cNvSpPr/>
          <p:nvPr userDrawn="1"/>
        </p:nvSpPr>
        <p:spPr>
          <a:xfrm>
            <a:off x="740569" y="1777835"/>
            <a:ext cx="11451428" cy="508016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Rectangle 11">
            <a:extLst>
              <a:ext uri="{FF2B5EF4-FFF2-40B4-BE49-F238E27FC236}">
                <a16:creationId xmlns:a16="http://schemas.microsoft.com/office/drawing/2014/main" id="{041D205D-50AB-4BC3-8C7E-8CE8315B0DF1}"/>
              </a:ext>
            </a:extLst>
          </p:cNvPr>
          <p:cNvSpPr/>
          <p:nvPr userDrawn="1"/>
        </p:nvSpPr>
        <p:spPr>
          <a:xfrm>
            <a:off x="9004300" y="-2"/>
            <a:ext cx="3187698" cy="68580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E68AE9D4-D0C0-4BC8-B24B-7C2ACFFE6873}"/>
              </a:ext>
            </a:extLst>
          </p:cNvPr>
          <p:cNvSpPr/>
          <p:nvPr userDrawn="1"/>
        </p:nvSpPr>
        <p:spPr>
          <a:xfrm>
            <a:off x="11677650" y="500063"/>
            <a:ext cx="1073150" cy="10731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Freeform 5">
            <a:extLst>
              <a:ext uri="{FF2B5EF4-FFF2-40B4-BE49-F238E27FC236}">
                <a16:creationId xmlns:a16="http://schemas.microsoft.com/office/drawing/2014/main" id="{E035EA31-924E-49AD-81C4-D3DB8335CFB7}"/>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13" name="TextBox 12">
            <a:extLst>
              <a:ext uri="{FF2B5EF4-FFF2-40B4-BE49-F238E27FC236}">
                <a16:creationId xmlns:a16="http://schemas.microsoft.com/office/drawing/2014/main" id="{C6C91DC2-E048-4F19-A820-EFC065B3F122}"/>
              </a:ext>
            </a:extLst>
          </p:cNvPr>
          <p:cNvSpPr txBox="1">
            <a:spLocks/>
          </p:cNvSpPr>
          <p:nvPr userDrawn="1"/>
        </p:nvSpPr>
        <p:spPr>
          <a:xfrm>
            <a:off x="1196974" y="400204"/>
            <a:ext cx="7446169" cy="82440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000005"/>
                </a:solidFill>
                <a:effectLst/>
                <a:uLnTx/>
                <a:uFillTx/>
                <a:latin typeface="Roboto" panose="02000000000000000000" pitchFamily="2" charset="0"/>
                <a:ea typeface="Roboto" panose="02000000000000000000" pitchFamily="2" charset="0"/>
                <a:cs typeface="+mn-cs"/>
              </a:rPr>
              <a:t>Our 17 year history assures best practice in privacy, security and the ethical use of data</a:t>
            </a:r>
          </a:p>
        </p:txBody>
      </p:sp>
      <p:sp>
        <p:nvSpPr>
          <p:cNvPr id="18" name="TextBox 17">
            <a:extLst>
              <a:ext uri="{FF2B5EF4-FFF2-40B4-BE49-F238E27FC236}">
                <a16:creationId xmlns:a16="http://schemas.microsoft.com/office/drawing/2014/main" id="{461B3898-7D8C-49A6-BC0F-1FA7841BECD8}"/>
              </a:ext>
            </a:extLst>
          </p:cNvPr>
          <p:cNvSpPr txBox="1">
            <a:spLocks/>
          </p:cNvSpPr>
          <p:nvPr userDrawn="1"/>
        </p:nvSpPr>
        <p:spPr>
          <a:xfrm>
            <a:off x="9407615" y="2417885"/>
            <a:ext cx="2338907" cy="2180492"/>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Quantium believes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in using data for progress, with great care and responsibility. As such please respect the commercial in confidence nature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of this document.</a:t>
            </a:r>
          </a:p>
        </p:txBody>
      </p:sp>
      <p:sp>
        <p:nvSpPr>
          <p:cNvPr id="19" name="TextBox 18">
            <a:extLst>
              <a:ext uri="{FF2B5EF4-FFF2-40B4-BE49-F238E27FC236}">
                <a16:creationId xmlns:a16="http://schemas.microsoft.com/office/drawing/2014/main" id="{30F3FF08-2F8E-4C70-80B1-0FD2B229F56E}"/>
              </a:ext>
            </a:extLst>
          </p:cNvPr>
          <p:cNvSpPr txBox="1">
            <a:spLocks/>
          </p:cNvSpPr>
          <p:nvPr userDrawn="1"/>
        </p:nvSpPr>
        <p:spPr>
          <a:xfrm>
            <a:off x="9407615" y="500063"/>
            <a:ext cx="2207023" cy="1073150"/>
          </a:xfrm>
          <a:prstGeom prst="rect">
            <a:avLst/>
          </a:prstGeom>
          <a:noFill/>
        </p:spPr>
        <p:txBody>
          <a:bodyPr wrap="square" lIns="0" tIns="0" rIns="0" bIns="0" rtlCol="0" anchor="t">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We all have a responsibility</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to use data</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for good</a:t>
            </a:r>
          </a:p>
        </p:txBody>
      </p:sp>
      <p:sp>
        <p:nvSpPr>
          <p:cNvPr id="20" name="Rectangle 19">
            <a:extLst>
              <a:ext uri="{FF2B5EF4-FFF2-40B4-BE49-F238E27FC236}">
                <a16:creationId xmlns:a16="http://schemas.microsoft.com/office/drawing/2014/main" id="{4FC71A49-2E38-4CD2-95F9-2DA359EF9E6C}"/>
              </a:ext>
            </a:extLst>
          </p:cNvPr>
          <p:cNvSpPr/>
          <p:nvPr userDrawn="1"/>
        </p:nvSpPr>
        <p:spPr>
          <a:xfrm>
            <a:off x="1196975"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Privacy</a:t>
            </a:r>
          </a:p>
        </p:txBody>
      </p:sp>
      <p:sp>
        <p:nvSpPr>
          <p:cNvPr id="21" name="Rectangle 20">
            <a:extLst>
              <a:ext uri="{FF2B5EF4-FFF2-40B4-BE49-F238E27FC236}">
                <a16:creationId xmlns:a16="http://schemas.microsoft.com/office/drawing/2014/main" id="{CF224348-E467-47F8-A8B6-47FF2737C15A}"/>
              </a:ext>
            </a:extLst>
          </p:cNvPr>
          <p:cNvSpPr/>
          <p:nvPr userDrawn="1"/>
        </p:nvSpPr>
        <p:spPr bwMode="auto">
          <a:xfrm>
            <a:off x="1196974" y="2254637"/>
            <a:ext cx="2311153" cy="1938992"/>
          </a:xfrm>
          <a:prstGeom prst="rect">
            <a:avLst/>
          </a:prstGeom>
          <a:noFill/>
        </p:spPr>
        <p:txBody>
          <a:bodyPr wrap="square" lIns="0" r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have built our business based on privacy by design principles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the past 17 years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Quantium has strict protocols</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around the receipt and storage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of personal information</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information is de-identified using an irreversible tokenisation process with no ability to</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re-identify individuals.</a:t>
            </a:r>
          </a:p>
        </p:txBody>
      </p:sp>
      <p:sp>
        <p:nvSpPr>
          <p:cNvPr id="22" name="Rectangle 21">
            <a:extLst>
              <a:ext uri="{FF2B5EF4-FFF2-40B4-BE49-F238E27FC236}">
                <a16:creationId xmlns:a16="http://schemas.microsoft.com/office/drawing/2014/main" id="{E4228DE1-76A0-4339-8BF2-85B66BF5797A}"/>
              </a:ext>
            </a:extLst>
          </p:cNvPr>
          <p:cNvSpPr/>
          <p:nvPr userDrawn="1"/>
        </p:nvSpPr>
        <p:spPr>
          <a:xfrm>
            <a:off x="3957637"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Security</a:t>
            </a:r>
          </a:p>
        </p:txBody>
      </p:sp>
      <p:sp>
        <p:nvSpPr>
          <p:cNvPr id="23" name="Rectangle 22">
            <a:extLst>
              <a:ext uri="{FF2B5EF4-FFF2-40B4-BE49-F238E27FC236}">
                <a16:creationId xmlns:a16="http://schemas.microsoft.com/office/drawing/2014/main" id="{18DEEEB7-1BE6-4C4B-8362-B68EBD674C48}"/>
              </a:ext>
            </a:extLst>
          </p:cNvPr>
          <p:cNvSpPr/>
          <p:nvPr userDrawn="1"/>
        </p:nvSpPr>
        <p:spPr bwMode="auto">
          <a:xfrm>
            <a:off x="3957637" y="2254637"/>
            <a:ext cx="2311153" cy="3524042"/>
          </a:xfrm>
          <a:prstGeom prst="rect">
            <a:avLst/>
          </a:prstGeom>
          <a:noFill/>
        </p:spPr>
        <p:txBody>
          <a:bodyPr wrap="square" l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are ISO27001 certified - internationally recognised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our ability to uphold best practice standards across information security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use ‘bank grade’ security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to store and process our data</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Comply with 200+ security requirements from NAB, Woolworths and other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data partners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partner data is held in separate restricted environments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access to partner data is limited to essential staff only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Security environment and processes regularly audited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by our data partners.</a:t>
            </a:r>
            <a:endPar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endParaRPr>
          </a:p>
        </p:txBody>
      </p:sp>
      <p:sp>
        <p:nvSpPr>
          <p:cNvPr id="24" name="Rectangle 23">
            <a:extLst>
              <a:ext uri="{FF2B5EF4-FFF2-40B4-BE49-F238E27FC236}">
                <a16:creationId xmlns:a16="http://schemas.microsoft.com/office/drawing/2014/main" id="{1CB8722E-410F-4CED-92A8-C9F2CE7F4820}"/>
              </a:ext>
            </a:extLst>
          </p:cNvPr>
          <p:cNvSpPr/>
          <p:nvPr userDrawn="1"/>
        </p:nvSpPr>
        <p:spPr>
          <a:xfrm>
            <a:off x="6718300"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Ethical use of data</a:t>
            </a:r>
          </a:p>
        </p:txBody>
      </p:sp>
      <p:sp>
        <p:nvSpPr>
          <p:cNvPr id="25" name="Rectangle 24">
            <a:extLst>
              <a:ext uri="{FF2B5EF4-FFF2-40B4-BE49-F238E27FC236}">
                <a16:creationId xmlns:a16="http://schemas.microsoft.com/office/drawing/2014/main" id="{AD871283-9F06-4717-B8EE-5B501B88164A}"/>
              </a:ext>
            </a:extLst>
          </p:cNvPr>
          <p:cNvSpPr/>
          <p:nvPr userDrawn="1"/>
        </p:nvSpPr>
        <p:spPr bwMode="auto">
          <a:xfrm>
            <a:off x="6718300" y="2254637"/>
            <a:ext cx="2125664" cy="938719"/>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Applies to all facets of our work, from the initiatives we take on, the information we use and how our solutions impact individuals, organisations and society.</a:t>
            </a:r>
          </a:p>
        </p:txBody>
      </p:sp>
      <p:grpSp>
        <p:nvGrpSpPr>
          <p:cNvPr id="3" name="Group 2">
            <a:extLst>
              <a:ext uri="{FF2B5EF4-FFF2-40B4-BE49-F238E27FC236}">
                <a16:creationId xmlns:a16="http://schemas.microsoft.com/office/drawing/2014/main" id="{4E3BEC63-F4B2-4A6A-BC4E-73DD15F8C285}"/>
              </a:ext>
            </a:extLst>
          </p:cNvPr>
          <p:cNvGrpSpPr/>
          <p:nvPr userDrawn="1"/>
        </p:nvGrpSpPr>
        <p:grpSpPr>
          <a:xfrm>
            <a:off x="3732882" y="1987963"/>
            <a:ext cx="2760663" cy="3790715"/>
            <a:chOff x="3732882" y="1987964"/>
            <a:chExt cx="2760663" cy="3850128"/>
          </a:xfrm>
        </p:grpSpPr>
        <p:cxnSp>
          <p:nvCxnSpPr>
            <p:cNvPr id="26" name="Straight Connector 25">
              <a:extLst>
                <a:ext uri="{FF2B5EF4-FFF2-40B4-BE49-F238E27FC236}">
                  <a16:creationId xmlns:a16="http://schemas.microsoft.com/office/drawing/2014/main" id="{61C637D5-A691-43B0-B8AB-629E6B994BE7}"/>
                </a:ext>
              </a:extLst>
            </p:cNvPr>
            <p:cNvCxnSpPr>
              <a:cxnSpLocks/>
            </p:cNvCxnSpPr>
            <p:nvPr userDrawn="1"/>
          </p:nvCxnSpPr>
          <p:spPr>
            <a:xfrm>
              <a:off x="3732882"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790B2DB-ED35-42AA-8514-4581AA06CEC8}"/>
                </a:ext>
              </a:extLst>
            </p:cNvPr>
            <p:cNvCxnSpPr>
              <a:cxnSpLocks/>
            </p:cNvCxnSpPr>
            <p:nvPr userDrawn="1"/>
          </p:nvCxnSpPr>
          <p:spPr>
            <a:xfrm>
              <a:off x="6493545"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11516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Divider (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E7721E1-E5BB-4351-987D-BB1CCC903BAD}"/>
              </a:ext>
            </a:extLst>
          </p:cNvPr>
          <p:cNvSpPr/>
          <p:nvPr userDrawn="1"/>
        </p:nvSpPr>
        <p:spPr>
          <a:xfrm>
            <a:off x="740568" y="0"/>
            <a:ext cx="11451432" cy="24669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 name="Title 1">
            <a:extLst>
              <a:ext uri="{FF2B5EF4-FFF2-40B4-BE49-F238E27FC236}">
                <a16:creationId xmlns:a16="http://schemas.microsoft.com/office/drawing/2014/main" id="{1A096CAD-E381-408E-B15E-DB768D626E5F}"/>
              </a:ext>
            </a:extLst>
          </p:cNvPr>
          <p:cNvSpPr>
            <a:spLocks noGrp="1"/>
          </p:cNvSpPr>
          <p:nvPr>
            <p:ph type="title" hasCustomPrompt="1"/>
          </p:nvPr>
        </p:nvSpPr>
        <p:spPr>
          <a:xfrm>
            <a:off x="1162050" y="400050"/>
            <a:ext cx="2305050" cy="971550"/>
          </a:xfrm>
          <a:prstGeom prst="rect">
            <a:avLst/>
          </a:prstGeom>
        </p:spPr>
        <p:txBody>
          <a:bodyPr lIns="0" tIns="0" rIns="0" bIns="0" anchor="t">
            <a:noAutofit/>
          </a:bodyPr>
          <a:lstStyle>
            <a:lvl1pPr>
              <a:defRPr sz="8300">
                <a:solidFill>
                  <a:srgbClr val="000005"/>
                </a:solidFill>
                <a:latin typeface="Roboto Light" panose="02000000000000000000" pitchFamily="2" charset="0"/>
                <a:ea typeface="Roboto Light" panose="02000000000000000000" pitchFamily="2" charset="0"/>
              </a:defRPr>
            </a:lvl1pPr>
          </a:lstStyle>
          <a:p>
            <a:r>
              <a:rPr lang="en-US" dirty="0"/>
              <a:t>01</a:t>
            </a:r>
            <a:endParaRPr lang="en-AU" dirty="0"/>
          </a:p>
        </p:txBody>
      </p:sp>
      <p:sp>
        <p:nvSpPr>
          <p:cNvPr id="3" name="Text Placeholder 2">
            <a:extLst>
              <a:ext uri="{FF2B5EF4-FFF2-40B4-BE49-F238E27FC236}">
                <a16:creationId xmlns:a16="http://schemas.microsoft.com/office/drawing/2014/main" id="{CA1C2C93-9B17-46C1-8DE2-A0731939C1D7}"/>
              </a:ext>
            </a:extLst>
          </p:cNvPr>
          <p:cNvSpPr>
            <a:spLocks noGrp="1"/>
          </p:cNvSpPr>
          <p:nvPr>
            <p:ph type="body" idx="1"/>
          </p:nvPr>
        </p:nvSpPr>
        <p:spPr>
          <a:xfrm>
            <a:off x="1201738" y="3122612"/>
            <a:ext cx="5516562" cy="2516187"/>
          </a:xfrm>
          <a:prstGeom prst="rect">
            <a:avLst/>
          </a:prstGeom>
        </p:spPr>
        <p:txBody>
          <a:bodyPr lIns="0" tIns="0">
            <a:noAutofit/>
          </a:bodyPr>
          <a:lstStyle>
            <a:lvl1pPr marL="0" indent="0">
              <a:lnSpc>
                <a:spcPct val="100000"/>
              </a:lnSpc>
              <a:buNone/>
              <a:defRPr sz="2400">
                <a:solidFill>
                  <a:srgbClr val="000005"/>
                </a:solidFill>
                <a:latin typeface="Roboto Medium" panose="02000000000000000000" pitchFamily="2" charset="0"/>
                <a:ea typeface="Roboto Medium"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931034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eading blank">
    <p:spTree>
      <p:nvGrpSpPr>
        <p:cNvPr id="1" name=""/>
        <p:cNvGrpSpPr/>
        <p:nvPr/>
      </p:nvGrpSpPr>
      <p:grpSpPr>
        <a:xfrm>
          <a:off x="0" y="0"/>
          <a:ext cx="0" cy="0"/>
          <a:chOff x="0" y="0"/>
          <a:chExt cx="0" cy="0"/>
        </a:xfrm>
      </p:grpSpPr>
      <p:sp>
        <p:nvSpPr>
          <p:cNvPr id="4" name="Slide heading">
            <a:extLst>
              <a:ext uri="{FF2B5EF4-FFF2-40B4-BE49-F238E27FC236}">
                <a16:creationId xmlns:a16="http://schemas.microsoft.com/office/drawing/2014/main" id="{E3ED1357-6F7F-4C90-8D4F-71EB6A9D95C9}"/>
              </a:ext>
            </a:extLst>
          </p:cNvPr>
          <p:cNvSpPr>
            <a:spLocks noGrp="1"/>
          </p:cNvSpPr>
          <p:nvPr>
            <p:ph type="body" sz="quarter" idx="10" hasCustomPrompt="1"/>
          </p:nvPr>
        </p:nvSpPr>
        <p:spPr>
          <a:xfrm>
            <a:off x="1196975" y="453371"/>
            <a:ext cx="10479600" cy="824400"/>
          </a:xfrm>
          <a:prstGeom prst="rect">
            <a:avLst/>
          </a:prstGeom>
        </p:spPr>
        <p:txBody>
          <a:bodyPr lIns="0" tIns="0"/>
          <a:lstStyle>
            <a:lvl1pPr marL="0" indent="0">
              <a:lnSpc>
                <a:spcPct val="100000"/>
              </a:lnSpc>
              <a:buNone/>
              <a:defRPr sz="2400">
                <a:solidFill>
                  <a:srgbClr val="000005"/>
                </a:solidFill>
                <a:latin typeface="Roboto" panose="02000000000000000000" pitchFamily="2" charset="0"/>
                <a:ea typeface="Roboto" panose="02000000000000000000" pitchFamily="2" charset="0"/>
              </a:defRPr>
            </a:lvl1pPr>
            <a:lvl2pPr marL="457200" indent="0">
              <a:buNone/>
              <a:defRPr sz="2400">
                <a:latin typeface="+mj-lt"/>
              </a:defRPr>
            </a:lvl2pPr>
            <a:lvl3pPr marL="914400" indent="0">
              <a:buNone/>
              <a:defRPr sz="2400">
                <a:latin typeface="+mj-lt"/>
              </a:defRPr>
            </a:lvl3pPr>
            <a:lvl4pPr marL="1371600" indent="0">
              <a:buNone/>
              <a:defRPr sz="2400">
                <a:latin typeface="+mj-lt"/>
              </a:defRPr>
            </a:lvl4pPr>
            <a:lvl5pPr marL="1828800" indent="0">
              <a:buNone/>
              <a:defRPr sz="2400">
                <a:latin typeface="+mj-lt"/>
              </a:defRPr>
            </a:lvl5pPr>
          </a:lstStyle>
          <a:p>
            <a:pPr lvl="0"/>
            <a:r>
              <a:rPr lang="en-US" dirty="0"/>
              <a:t>Click to add page heading (max two lines)</a:t>
            </a:r>
          </a:p>
        </p:txBody>
      </p:sp>
    </p:spTree>
    <p:extLst>
      <p:ext uri="{BB962C8B-B14F-4D97-AF65-F5344CB8AC3E}">
        <p14:creationId xmlns:p14="http://schemas.microsoft.com/office/powerpoint/2010/main" val="38526576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39D7A0B-8216-4DF4-80FA-852A5D82EA2A}"/>
              </a:ext>
            </a:extLst>
          </p:cNvPr>
          <p:cNvSpPr/>
          <p:nvPr userDrawn="1"/>
        </p:nvSpPr>
        <p:spPr>
          <a:xfrm>
            <a:off x="177800" y="6223000"/>
            <a:ext cx="336550" cy="299969"/>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5" name="Rectangle 4">
            <a:extLst>
              <a:ext uri="{FF2B5EF4-FFF2-40B4-BE49-F238E27FC236}">
                <a16:creationId xmlns:a16="http://schemas.microsoft.com/office/drawing/2014/main" id="{6C601CD7-9F41-429E-ABE0-4B0AD4A32CAD}"/>
              </a:ext>
            </a:extLst>
          </p:cNvPr>
          <p:cNvSpPr/>
          <p:nvPr userDrawn="1"/>
        </p:nvSpPr>
        <p:spPr>
          <a:xfrm>
            <a:off x="3631660" y="4792494"/>
            <a:ext cx="8045990" cy="1730475"/>
          </a:xfrm>
          <a:prstGeom prst="rect">
            <a:avLst/>
          </a:prstGeom>
        </p:spPr>
        <p:txBody>
          <a:bodyPr wrap="square" lIns="0" anchor="b">
            <a:noAutofit/>
          </a:bodyPr>
          <a:lstStyle/>
          <a:p>
            <a:pPr algn="just">
              <a:lnSpc>
                <a:spcPct val="100000"/>
              </a:lnSpc>
              <a:spcBef>
                <a:spcPts val="0"/>
              </a:spcBef>
              <a:defRPr/>
            </a:pPr>
            <a:r>
              <a:rPr lang="en-AU" sz="1000" b="0" dirty="0">
                <a:solidFill>
                  <a:srgbClr val="736D67"/>
                </a:solidFill>
                <a:latin typeface="Roboto Medium" panose="02000000000000000000" pitchFamily="2" charset="0"/>
                <a:ea typeface="Roboto Medium" panose="02000000000000000000" pitchFamily="2" charset="0"/>
              </a:rPr>
              <a:t>Disclaimer: </a:t>
            </a:r>
            <a:r>
              <a:rPr lang="en-US" sz="1000" b="0" dirty="0">
                <a:solidFill>
                  <a:srgbClr val="736D67"/>
                </a:solidFill>
                <a:latin typeface="Roboto Light" panose="02000000000000000000" pitchFamily="2" charset="0"/>
                <a:ea typeface="Roboto Light" panose="02000000000000000000" pitchFamily="2" charset="0"/>
              </a:rPr>
              <a:t>This document comprises, and is the subject of intellectual property (including copyright) and confidentiality rights of one or multiple owners, including The Quantium Group Pty Limited and its affiliates (</a:t>
            </a:r>
            <a:r>
              <a:rPr lang="en-US" sz="1000" b="0" dirty="0">
                <a:solidFill>
                  <a:srgbClr val="736D67"/>
                </a:solidFill>
                <a:latin typeface="Roboto Medium" panose="02000000000000000000" pitchFamily="2" charset="0"/>
                <a:ea typeface="Roboto Medium" panose="02000000000000000000" pitchFamily="2" charset="0"/>
              </a:rPr>
              <a:t>Quantium</a:t>
            </a:r>
            <a:r>
              <a:rPr lang="en-US" sz="1000" b="0" dirty="0">
                <a:solidFill>
                  <a:srgbClr val="736D67"/>
                </a:solidFill>
                <a:latin typeface="Roboto Light" panose="02000000000000000000" pitchFamily="2" charset="0"/>
                <a:ea typeface="Roboto Light" panose="02000000000000000000" pitchFamily="2" charset="0"/>
              </a:rPr>
              <a:t>) and where applicable, its third-party data owners (</a:t>
            </a:r>
            <a:r>
              <a:rPr lang="en-US" sz="1000" b="0" dirty="0">
                <a:solidFill>
                  <a:srgbClr val="736D67"/>
                </a:solidFill>
                <a:latin typeface="Roboto Medium" panose="02000000000000000000" pitchFamily="2" charset="0"/>
                <a:ea typeface="Roboto Medium" panose="02000000000000000000" pitchFamily="2" charset="0"/>
              </a:rPr>
              <a:t>Data Providers</a:t>
            </a:r>
            <a:r>
              <a:rPr lang="en-US" sz="1000" b="0" dirty="0">
                <a:solidFill>
                  <a:srgbClr val="736D67"/>
                </a:solidFill>
                <a:latin typeface="Roboto Light" panose="02000000000000000000" pitchFamily="2" charset="0"/>
                <a:ea typeface="Roboto Light" panose="02000000000000000000" pitchFamily="2" charset="0"/>
              </a:rPr>
              <a:t>), together (</a:t>
            </a:r>
            <a:r>
              <a:rPr lang="en-US" sz="1000" b="0" dirty="0">
                <a:solidFill>
                  <a:srgbClr val="736D67"/>
                </a:solidFill>
                <a:latin typeface="Roboto Medium" panose="02000000000000000000" pitchFamily="2" charset="0"/>
                <a:ea typeface="Roboto Medium" panose="02000000000000000000" pitchFamily="2" charset="0"/>
              </a:rPr>
              <a:t>IP Owners</a:t>
            </a:r>
            <a:r>
              <a:rPr lang="en-US" sz="1000" b="0" dirty="0">
                <a:solidFill>
                  <a:srgbClr val="736D67"/>
                </a:solidFill>
                <a:latin typeface="Roboto Light" panose="02000000000000000000" pitchFamily="2" charset="0"/>
                <a:ea typeface="Roboto Light" panose="02000000000000000000" pitchFamily="2" charset="0"/>
              </a:rPr>
              <a:t>). The information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may have been prepared using raw data owned by the Data Providers. The Data Providers have not been involved in the analysis of the raw data, the preparation of, or the information contained in the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The IP Owners do not make any representation (express or implied), nor give any guarantee or warranty in relation to the accuracy, completeness or appropriateness of the raw data, nor the analysis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None of the IP Owners will have any liability for any use or disclosure by the recipient of any information contained in, or derived from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To the maximum extent permitted by law, the IP Owners expressly disclaim, take no responsibility for and have no liability for the preparation, contents, accuracy or completeness of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nor the analysis on which it is based.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is provided in confidence, may only be used for the purpose provided, and may not be copied, reproduced, distributed, disclosed or made available to a third party in any way except strictly in accordance with the applicable written terms and conditions between you and Quantium, or otherwise with Quantium’s prior written permission</a:t>
            </a:r>
            <a:endParaRPr lang="en-AU" sz="1000" b="0" dirty="0">
              <a:solidFill>
                <a:srgbClr val="736D67"/>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98965062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F5829D3-6434-4C66-A382-6A22E3876A48}"/>
              </a:ext>
            </a:extLst>
          </p:cNvPr>
          <p:cNvSpPr/>
          <p:nvPr userDrawn="1"/>
        </p:nvSpPr>
        <p:spPr>
          <a:xfrm>
            <a:off x="-1" y="0"/>
            <a:ext cx="74097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 name="Slide Number Placeholder 6">
            <a:extLst>
              <a:ext uri="{FF2B5EF4-FFF2-40B4-BE49-F238E27FC236}">
                <a16:creationId xmlns:a16="http://schemas.microsoft.com/office/drawing/2014/main" id="{3625FC0E-76E8-4E41-B33D-6FD7D9697535}"/>
              </a:ext>
            </a:extLst>
          </p:cNvPr>
          <p:cNvSpPr txBox="1">
            <a:spLocks/>
          </p:cNvSpPr>
          <p:nvPr userDrawn="1"/>
        </p:nvSpPr>
        <p:spPr>
          <a:xfrm>
            <a:off x="127000" y="6239658"/>
            <a:ext cx="457200" cy="365125"/>
          </a:xfrm>
          <a:prstGeom prst="rect">
            <a:avLst/>
          </a:prstGeom>
        </p:spPr>
        <p:txBody>
          <a:bodyPr/>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B7CFE17-F5A6-4E5D-B32C-113A30C24AE0}" type="slidenum">
              <a:rPr lang="en-AU" sz="1400" smtClean="0">
                <a:solidFill>
                  <a:srgbClr val="FFFFFF"/>
                </a:solidFill>
                <a:latin typeface="Roboto" pitchFamily="2" charset="0"/>
                <a:ea typeface="Roboto" pitchFamily="2" charset="0"/>
              </a:rPr>
              <a:pPr algn="ctr"/>
              <a:t>‹#›</a:t>
            </a:fld>
            <a:endParaRPr lang="en-AU" sz="1400" dirty="0">
              <a:solidFill>
                <a:srgbClr val="FFFFFF"/>
              </a:solidFill>
              <a:latin typeface="Roboto" pitchFamily="2" charset="0"/>
              <a:ea typeface="Roboto" pitchFamily="2" charset="0"/>
            </a:endParaRPr>
          </a:p>
        </p:txBody>
      </p:sp>
      <p:sp>
        <p:nvSpPr>
          <p:cNvPr id="5" name="Oval 4">
            <a:extLst>
              <a:ext uri="{FF2B5EF4-FFF2-40B4-BE49-F238E27FC236}">
                <a16:creationId xmlns:a16="http://schemas.microsoft.com/office/drawing/2014/main" id="{B058B946-434D-48E0-BAC6-E795D619989C}"/>
              </a:ext>
            </a:extLst>
          </p:cNvPr>
          <p:cNvSpPr/>
          <p:nvPr userDrawn="1"/>
        </p:nvSpPr>
        <p:spPr>
          <a:xfrm>
            <a:off x="-394521" y="473749"/>
            <a:ext cx="229577" cy="229577"/>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6" name="Oval 5">
            <a:extLst>
              <a:ext uri="{FF2B5EF4-FFF2-40B4-BE49-F238E27FC236}">
                <a16:creationId xmlns:a16="http://schemas.microsoft.com/office/drawing/2014/main" id="{565BDBD0-0437-4869-A1B0-92FA8612C74F}"/>
              </a:ext>
            </a:extLst>
          </p:cNvPr>
          <p:cNvSpPr/>
          <p:nvPr userDrawn="1"/>
        </p:nvSpPr>
        <p:spPr>
          <a:xfrm>
            <a:off x="-394521" y="783791"/>
            <a:ext cx="229577" cy="229577"/>
          </a:xfrm>
          <a:prstGeom prst="ellipse">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8" name="Oval 7">
            <a:extLst>
              <a:ext uri="{FF2B5EF4-FFF2-40B4-BE49-F238E27FC236}">
                <a16:creationId xmlns:a16="http://schemas.microsoft.com/office/drawing/2014/main" id="{F8FBAB6D-66CF-4E04-9B1C-4525C3442F17}"/>
              </a:ext>
            </a:extLst>
          </p:cNvPr>
          <p:cNvSpPr/>
          <p:nvPr userDrawn="1"/>
        </p:nvSpPr>
        <p:spPr>
          <a:xfrm>
            <a:off x="-394521" y="1093833"/>
            <a:ext cx="229577" cy="229577"/>
          </a:xfrm>
          <a:prstGeom prst="ellipse">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1" name="Oval 10">
            <a:extLst>
              <a:ext uri="{FF2B5EF4-FFF2-40B4-BE49-F238E27FC236}">
                <a16:creationId xmlns:a16="http://schemas.microsoft.com/office/drawing/2014/main" id="{AE85D92D-D17D-4C5C-A5F0-4508086E3952}"/>
              </a:ext>
            </a:extLst>
          </p:cNvPr>
          <p:cNvSpPr/>
          <p:nvPr userDrawn="1"/>
        </p:nvSpPr>
        <p:spPr>
          <a:xfrm>
            <a:off x="-394521" y="1403875"/>
            <a:ext cx="229577" cy="229577"/>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Oval 11">
            <a:extLst>
              <a:ext uri="{FF2B5EF4-FFF2-40B4-BE49-F238E27FC236}">
                <a16:creationId xmlns:a16="http://schemas.microsoft.com/office/drawing/2014/main" id="{56665003-57E1-4A54-9EB6-54C8238D0E3A}"/>
              </a:ext>
            </a:extLst>
          </p:cNvPr>
          <p:cNvSpPr/>
          <p:nvPr userDrawn="1"/>
        </p:nvSpPr>
        <p:spPr>
          <a:xfrm>
            <a:off x="-394521" y="2334001"/>
            <a:ext cx="229577" cy="229577"/>
          </a:xfrm>
          <a:prstGeom prst="ellipse">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3" name="Oval 12">
            <a:extLst>
              <a:ext uri="{FF2B5EF4-FFF2-40B4-BE49-F238E27FC236}">
                <a16:creationId xmlns:a16="http://schemas.microsoft.com/office/drawing/2014/main" id="{430852FC-1A40-4DDF-90EA-631AF8ED2651}"/>
              </a:ext>
            </a:extLst>
          </p:cNvPr>
          <p:cNvSpPr/>
          <p:nvPr userDrawn="1"/>
        </p:nvSpPr>
        <p:spPr>
          <a:xfrm>
            <a:off x="-394521" y="1713917"/>
            <a:ext cx="229577" cy="229577"/>
          </a:xfrm>
          <a:prstGeom prst="ellipse">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7F328DB3-555F-48BC-A956-38F8A313E7CF}"/>
              </a:ext>
            </a:extLst>
          </p:cNvPr>
          <p:cNvSpPr/>
          <p:nvPr userDrawn="1"/>
        </p:nvSpPr>
        <p:spPr>
          <a:xfrm>
            <a:off x="-394521" y="2023959"/>
            <a:ext cx="229577" cy="229577"/>
          </a:xfrm>
          <a:prstGeom prst="ellipse">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Oval 14">
            <a:extLst>
              <a:ext uri="{FF2B5EF4-FFF2-40B4-BE49-F238E27FC236}">
                <a16:creationId xmlns:a16="http://schemas.microsoft.com/office/drawing/2014/main" id="{8BA9680E-296C-4E11-A8D4-6F5ACFCF7F93}"/>
              </a:ext>
            </a:extLst>
          </p:cNvPr>
          <p:cNvSpPr/>
          <p:nvPr userDrawn="1"/>
        </p:nvSpPr>
        <p:spPr>
          <a:xfrm>
            <a:off x="-394521" y="2644043"/>
            <a:ext cx="229577" cy="229577"/>
          </a:xfrm>
          <a:prstGeom prst="ellips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Oval 15">
            <a:extLst>
              <a:ext uri="{FF2B5EF4-FFF2-40B4-BE49-F238E27FC236}">
                <a16:creationId xmlns:a16="http://schemas.microsoft.com/office/drawing/2014/main" id="{3BC81476-0EA9-46C1-BF9E-14500F2DE601}"/>
              </a:ext>
            </a:extLst>
          </p:cNvPr>
          <p:cNvSpPr/>
          <p:nvPr userDrawn="1"/>
        </p:nvSpPr>
        <p:spPr>
          <a:xfrm>
            <a:off x="-394521" y="3802925"/>
            <a:ext cx="230400" cy="230400"/>
          </a:xfrm>
          <a:prstGeom prst="ellipse">
            <a:avLst/>
          </a:prstGeom>
          <a:solidFill>
            <a:srgbClr val="3F68AD"/>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7" name="Oval 16">
            <a:extLst>
              <a:ext uri="{FF2B5EF4-FFF2-40B4-BE49-F238E27FC236}">
                <a16:creationId xmlns:a16="http://schemas.microsoft.com/office/drawing/2014/main" id="{417EF92D-6697-44F0-9A9D-98B559DD0E13}"/>
              </a:ext>
            </a:extLst>
          </p:cNvPr>
          <p:cNvSpPr/>
          <p:nvPr userDrawn="1"/>
        </p:nvSpPr>
        <p:spPr>
          <a:xfrm>
            <a:off x="-394521" y="4113790"/>
            <a:ext cx="230400" cy="230400"/>
          </a:xfrm>
          <a:prstGeom prst="ellipse">
            <a:avLst/>
          </a:prstGeom>
          <a:solidFill>
            <a:srgbClr val="44B5C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8" name="Oval 17">
            <a:extLst>
              <a:ext uri="{FF2B5EF4-FFF2-40B4-BE49-F238E27FC236}">
                <a16:creationId xmlns:a16="http://schemas.microsoft.com/office/drawing/2014/main" id="{1FB16B5A-29E3-451A-9062-049C330D7888}"/>
              </a:ext>
            </a:extLst>
          </p:cNvPr>
          <p:cNvSpPr/>
          <p:nvPr userDrawn="1"/>
        </p:nvSpPr>
        <p:spPr>
          <a:xfrm>
            <a:off x="-394521" y="4424655"/>
            <a:ext cx="230400" cy="230400"/>
          </a:xfrm>
          <a:prstGeom prst="ellipse">
            <a:avLst/>
          </a:prstGeom>
          <a:solidFill>
            <a:srgbClr val="44D6A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9" name="Oval 18">
            <a:extLst>
              <a:ext uri="{FF2B5EF4-FFF2-40B4-BE49-F238E27FC236}">
                <a16:creationId xmlns:a16="http://schemas.microsoft.com/office/drawing/2014/main" id="{B1384C41-F1FF-49B5-8059-1DA629D8B47F}"/>
              </a:ext>
            </a:extLst>
          </p:cNvPr>
          <p:cNvSpPr/>
          <p:nvPr userDrawn="1"/>
        </p:nvSpPr>
        <p:spPr>
          <a:xfrm>
            <a:off x="-394521" y="4735520"/>
            <a:ext cx="230400" cy="230400"/>
          </a:xfrm>
          <a:prstGeom prst="ellipse">
            <a:avLst/>
          </a:prstGeom>
          <a:solidFill>
            <a:srgbClr val="7FDD7C"/>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0" name="Oval 19">
            <a:extLst>
              <a:ext uri="{FF2B5EF4-FFF2-40B4-BE49-F238E27FC236}">
                <a16:creationId xmlns:a16="http://schemas.microsoft.com/office/drawing/2014/main" id="{79470623-F879-4533-B440-0BA3CDCD59BC}"/>
              </a:ext>
            </a:extLst>
          </p:cNvPr>
          <p:cNvSpPr/>
          <p:nvPr userDrawn="1"/>
        </p:nvSpPr>
        <p:spPr>
          <a:xfrm>
            <a:off x="-394521" y="5046385"/>
            <a:ext cx="230400" cy="230400"/>
          </a:xfrm>
          <a:prstGeom prst="ellipse">
            <a:avLst/>
          </a:prstGeom>
          <a:solidFill>
            <a:srgbClr val="EACC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1" name="Oval 20">
            <a:extLst>
              <a:ext uri="{FF2B5EF4-FFF2-40B4-BE49-F238E27FC236}">
                <a16:creationId xmlns:a16="http://schemas.microsoft.com/office/drawing/2014/main" id="{DE8AA357-14EB-4FD6-A0A1-9915E5408445}"/>
              </a:ext>
            </a:extLst>
          </p:cNvPr>
          <p:cNvSpPr/>
          <p:nvPr userDrawn="1"/>
        </p:nvSpPr>
        <p:spPr>
          <a:xfrm>
            <a:off x="-394521" y="5357250"/>
            <a:ext cx="230400" cy="230400"/>
          </a:xfrm>
          <a:prstGeom prst="ellipse">
            <a:avLst/>
          </a:prstGeom>
          <a:solidFill>
            <a:srgbClr val="EF9B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2" name="Oval 21">
            <a:extLst>
              <a:ext uri="{FF2B5EF4-FFF2-40B4-BE49-F238E27FC236}">
                <a16:creationId xmlns:a16="http://schemas.microsoft.com/office/drawing/2014/main" id="{D334A920-A603-431D-B31C-7FB85DAE2CDA}"/>
              </a:ext>
            </a:extLst>
          </p:cNvPr>
          <p:cNvSpPr/>
          <p:nvPr userDrawn="1"/>
        </p:nvSpPr>
        <p:spPr>
          <a:xfrm>
            <a:off x="-394521" y="5668115"/>
            <a:ext cx="230400" cy="230400"/>
          </a:xfrm>
          <a:prstGeom prst="ellipse">
            <a:avLst/>
          </a:prstGeom>
          <a:solidFill>
            <a:srgbClr val="EF63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3" name="Oval 22">
            <a:extLst>
              <a:ext uri="{FF2B5EF4-FFF2-40B4-BE49-F238E27FC236}">
                <a16:creationId xmlns:a16="http://schemas.microsoft.com/office/drawing/2014/main" id="{507F04BA-F461-4A70-A60C-01EFC8E98716}"/>
              </a:ext>
            </a:extLst>
          </p:cNvPr>
          <p:cNvSpPr/>
          <p:nvPr userDrawn="1"/>
        </p:nvSpPr>
        <p:spPr>
          <a:xfrm>
            <a:off x="-394521" y="5978980"/>
            <a:ext cx="230400" cy="230400"/>
          </a:xfrm>
          <a:prstGeom prst="ellipse">
            <a:avLst/>
          </a:prstGeom>
          <a:solidFill>
            <a:srgbClr val="C963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4" name="Oval 23">
            <a:extLst>
              <a:ext uri="{FF2B5EF4-FFF2-40B4-BE49-F238E27FC236}">
                <a16:creationId xmlns:a16="http://schemas.microsoft.com/office/drawing/2014/main" id="{A9DB4398-81BF-40D0-97F3-816926FF6B60}"/>
              </a:ext>
            </a:extLst>
          </p:cNvPr>
          <p:cNvSpPr/>
          <p:nvPr userDrawn="1"/>
        </p:nvSpPr>
        <p:spPr>
          <a:xfrm>
            <a:off x="-394521" y="6289840"/>
            <a:ext cx="230400" cy="230400"/>
          </a:xfrm>
          <a:prstGeom prst="ellipse">
            <a:avLst/>
          </a:prstGeom>
          <a:solidFill>
            <a:srgbClr val="8E72B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7" name="Freeform 5">
            <a:extLst>
              <a:ext uri="{FF2B5EF4-FFF2-40B4-BE49-F238E27FC236}">
                <a16:creationId xmlns:a16="http://schemas.microsoft.com/office/drawing/2014/main" id="{0F9F09AD-9CB7-4EF7-A2F9-9ED3E13CC816}"/>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2" name="MSIPCMContentMarking" descr="{&quot;HashCode&quot;:-231024771,&quot;Placement&quot;:&quot;Footer&quot;}">
            <a:extLst>
              <a:ext uri="{FF2B5EF4-FFF2-40B4-BE49-F238E27FC236}">
                <a16:creationId xmlns:a16="http://schemas.microsoft.com/office/drawing/2014/main" id="{7BC2284E-95AB-45DB-A12C-B1A9F55ACB5C}"/>
              </a:ext>
            </a:extLst>
          </p:cNvPr>
          <p:cNvSpPr txBox="1"/>
          <p:nvPr userDrawn="1"/>
        </p:nvSpPr>
        <p:spPr>
          <a:xfrm>
            <a:off x="5263052" y="6595656"/>
            <a:ext cx="1665897" cy="262344"/>
          </a:xfrm>
          <a:prstGeom prst="rect">
            <a:avLst/>
          </a:prstGeom>
          <a:noFill/>
        </p:spPr>
        <p:txBody>
          <a:bodyPr vert="horz" wrap="square" lIns="0" tIns="0" rIns="0" bIns="0" rtlCol="0" anchor="ctr" anchorCtr="1">
            <a:noAutofit/>
          </a:bodyPr>
          <a:lstStyle/>
          <a:p>
            <a:pPr algn="ctr">
              <a:spcBef>
                <a:spcPts val="0"/>
              </a:spcBef>
              <a:spcAft>
                <a:spcPts val="0"/>
              </a:spcAft>
            </a:pPr>
            <a:r>
              <a:rPr lang="en-AU" sz="1000">
                <a:solidFill>
                  <a:srgbClr val="000000"/>
                </a:solidFill>
                <a:latin typeface="Calibri" panose="020F0502020204030204" pitchFamily="34" charset="0"/>
                <a:ea typeface="Roboto Light" panose="02000000000000000000" pitchFamily="2" charset="0"/>
              </a:rPr>
              <a:t>Classification: Confidential</a:t>
            </a:r>
            <a:endParaRPr lang="en-AU" sz="1000" dirty="0" err="1">
              <a:solidFill>
                <a:srgbClr val="000000"/>
              </a:solidFill>
              <a:latin typeface="Calibri" panose="020F0502020204030204" pitchFamily="34" charset="0"/>
              <a:ea typeface="Roboto Light" panose="02000000000000000000" pitchFamily="2" charset="0"/>
            </a:endParaRPr>
          </a:p>
        </p:txBody>
      </p:sp>
    </p:spTree>
    <p:extLst>
      <p:ext uri="{BB962C8B-B14F-4D97-AF65-F5344CB8AC3E}">
        <p14:creationId xmlns:p14="http://schemas.microsoft.com/office/powerpoint/2010/main" val="1496242531"/>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64" r:id="rId3"/>
    <p:sldLayoutId id="2147483666" r:id="rId4"/>
    <p:sldLayoutId id="2147483678"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Roboto" panose="02000000000000000000" pitchFamily="2" charset="0"/>
          <a:ea typeface="Roboto" panose="02000000000000000000" pitchFamily="2"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7356" userDrawn="1">
          <p15:clr>
            <a:srgbClr val="5ACBF0"/>
          </p15:clr>
        </p15:guide>
        <p15:guide id="33" orient="horz" pos="3793" userDrawn="1">
          <p15:clr>
            <a:srgbClr val="5ACBF0"/>
          </p15:clr>
        </p15:guide>
        <p15:guide id="34" orient="horz" pos="315" userDrawn="1">
          <p15:clr>
            <a:srgbClr val="5ACBF0"/>
          </p15:clr>
        </p15:guide>
        <p15:guide id="35" pos="760" userDrawn="1">
          <p15:clr>
            <a:srgbClr val="5ACBF0"/>
          </p15:clr>
        </p15:guide>
        <p15:guide id="36" orient="horz" pos="822" userDrawn="1">
          <p15:clr>
            <a:srgbClr val="FBAE40"/>
          </p15:clr>
        </p15:guide>
        <p15:guide id="37" pos="4067" userDrawn="1">
          <p15:clr>
            <a:srgbClr val="FBAE4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5A689-427A-4570-AB6C-61AC3B3F4786}"/>
              </a:ext>
            </a:extLst>
          </p:cNvPr>
          <p:cNvSpPr>
            <a:spLocks noGrp="1"/>
          </p:cNvSpPr>
          <p:nvPr>
            <p:ph type="ctrTitle"/>
          </p:nvPr>
        </p:nvSpPr>
        <p:spPr>
          <a:xfrm>
            <a:off x="955040" y="1537494"/>
            <a:ext cx="6400800" cy="2387600"/>
          </a:xfrm>
        </p:spPr>
        <p:txBody>
          <a:bodyPr/>
          <a:lstStyle/>
          <a:p>
            <a:r>
              <a:rPr lang="en-US" dirty="0"/>
              <a:t>Retail Analytics – Chips Category Review</a:t>
            </a:r>
            <a:endParaRPr lang="en-AU" dirty="0"/>
          </a:p>
        </p:txBody>
      </p:sp>
      <p:sp>
        <p:nvSpPr>
          <p:cNvPr id="3" name="Subtitle 2">
            <a:extLst>
              <a:ext uri="{FF2B5EF4-FFF2-40B4-BE49-F238E27FC236}">
                <a16:creationId xmlns:a16="http://schemas.microsoft.com/office/drawing/2014/main" id="{EA927627-6915-4275-B2FE-C4B2C0FCCCAF}"/>
              </a:ext>
            </a:extLst>
          </p:cNvPr>
          <p:cNvSpPr>
            <a:spLocks noGrp="1"/>
          </p:cNvSpPr>
          <p:nvPr>
            <p:ph type="subTitle" idx="1"/>
          </p:nvPr>
        </p:nvSpPr>
        <p:spPr/>
        <p:txBody>
          <a:bodyPr/>
          <a:lstStyle/>
          <a:p>
            <a:r>
              <a:rPr lang="en-IN" dirty="0"/>
              <a:t>Trial Store Performance Analysis</a:t>
            </a:r>
            <a:endParaRPr lang="en-AU" dirty="0"/>
          </a:p>
        </p:txBody>
      </p:sp>
      <p:sp>
        <p:nvSpPr>
          <p:cNvPr id="4" name="Text Placeholder 3">
            <a:extLst>
              <a:ext uri="{FF2B5EF4-FFF2-40B4-BE49-F238E27FC236}">
                <a16:creationId xmlns:a16="http://schemas.microsoft.com/office/drawing/2014/main" id="{C2EEE1EB-5529-4FA4-98E8-7A820B9EBBCB}"/>
              </a:ext>
            </a:extLst>
          </p:cNvPr>
          <p:cNvSpPr>
            <a:spLocks noGrp="1"/>
          </p:cNvSpPr>
          <p:nvPr>
            <p:ph type="body" sz="quarter" idx="10"/>
          </p:nvPr>
        </p:nvSpPr>
        <p:spPr/>
        <p:txBody>
          <a:bodyPr/>
          <a:lstStyle/>
          <a:p>
            <a:r>
              <a:rPr lang="en-IN" dirty="0"/>
              <a:t>March 2026</a:t>
            </a:r>
            <a:endParaRPr lang="en-AU" dirty="0"/>
          </a:p>
        </p:txBody>
      </p:sp>
      <p:grpSp>
        <p:nvGrpSpPr>
          <p:cNvPr id="8" name="Group 7">
            <a:extLst>
              <a:ext uri="{FF2B5EF4-FFF2-40B4-BE49-F238E27FC236}">
                <a16:creationId xmlns:a16="http://schemas.microsoft.com/office/drawing/2014/main" id="{62DE0454-0BA4-4386-B622-8EA467037A0C}"/>
              </a:ext>
            </a:extLst>
          </p:cNvPr>
          <p:cNvGrpSpPr/>
          <p:nvPr/>
        </p:nvGrpSpPr>
        <p:grpSpPr>
          <a:xfrm>
            <a:off x="12294760" y="5621533"/>
            <a:ext cx="1981965" cy="1236467"/>
            <a:chOff x="8857913" y="1025653"/>
            <a:chExt cx="1981965" cy="1236467"/>
          </a:xfrm>
        </p:grpSpPr>
        <p:sp>
          <p:nvSpPr>
            <p:cNvPr id="9" name="Rectangle 8">
              <a:extLst>
                <a:ext uri="{FF2B5EF4-FFF2-40B4-BE49-F238E27FC236}">
                  <a16:creationId xmlns:a16="http://schemas.microsoft.com/office/drawing/2014/main" id="{28F865C8-FAEC-405F-A99C-B9D8A0EB3A29}"/>
                </a:ext>
              </a:extLst>
            </p:cNvPr>
            <p:cNvSpPr/>
            <p:nvPr/>
          </p:nvSpPr>
          <p:spPr>
            <a:xfrm>
              <a:off x="8857914" y="1025653"/>
              <a:ext cx="1981964" cy="1236467"/>
            </a:xfrm>
            <a:prstGeom prst="rect">
              <a:avLst/>
            </a:prstGeom>
            <a:solidFill>
              <a:srgbClr val="FFFFFF"/>
            </a:solidFill>
            <a:ln>
              <a:solidFill>
                <a:srgbClr val="C7C5C4"/>
              </a:solidFill>
            </a:ln>
          </p:spPr>
          <p:style>
            <a:lnRef idx="2">
              <a:schemeClr val="accent1">
                <a:shade val="50000"/>
              </a:schemeClr>
            </a:lnRef>
            <a:fillRef idx="1">
              <a:schemeClr val="accent1"/>
            </a:fillRef>
            <a:effectRef idx="0">
              <a:schemeClr val="accent1"/>
            </a:effectRef>
            <a:fontRef idx="minor">
              <a:schemeClr val="lt1"/>
            </a:fontRef>
          </p:style>
          <p:txBody>
            <a:bodyPr tIns="468000" rtlCol="0" anchor="t"/>
            <a:lstStyle/>
            <a:p>
              <a:r>
                <a:rPr lang="en-AU" sz="1000" dirty="0">
                  <a:solidFill>
                    <a:srgbClr val="EF9B47"/>
                  </a:solidFill>
                  <a:latin typeface="Roboto Medium" panose="02000000000000000000" pitchFamily="2" charset="0"/>
                  <a:ea typeface="Roboto Light" panose="02000000000000000000" pitchFamily="2" charset="0"/>
                </a:rPr>
                <a:t>Brand note:</a:t>
              </a:r>
              <a:r>
                <a:rPr lang="en-AU" sz="1000" dirty="0">
                  <a:solidFill>
                    <a:srgbClr val="000005"/>
                  </a:solidFill>
                  <a:latin typeface="Roboto Light" panose="02000000000000000000" pitchFamily="2" charset="0"/>
                  <a:ea typeface="Roboto Light" panose="02000000000000000000" pitchFamily="2" charset="0"/>
                </a:rPr>
                <a:t> If client logo is not required, use alternate title page layout </a:t>
              </a:r>
              <a:r>
                <a:rPr lang="en-AU" sz="1000" dirty="0">
                  <a:solidFill>
                    <a:srgbClr val="000005"/>
                  </a:solidFill>
                  <a:latin typeface="Roboto Medium" panose="02000000000000000000" pitchFamily="2" charset="0"/>
                  <a:ea typeface="Roboto Light" panose="02000000000000000000" pitchFamily="2" charset="0"/>
                </a:rPr>
                <a:t>right click slide thumbnail </a:t>
              </a:r>
              <a:r>
                <a:rPr lang="en-AU" sz="1000" dirty="0">
                  <a:solidFill>
                    <a:srgbClr val="000005"/>
                  </a:solidFill>
                  <a:latin typeface="Roboto Light" panose="02000000000000000000" pitchFamily="2" charset="0"/>
                  <a:ea typeface="Roboto Light" panose="02000000000000000000" pitchFamily="2" charset="0"/>
                </a:rPr>
                <a:t>&gt;</a:t>
              </a:r>
              <a:r>
                <a:rPr lang="en-AU" sz="1000" dirty="0">
                  <a:solidFill>
                    <a:srgbClr val="000005"/>
                  </a:solidFill>
                  <a:latin typeface="Roboto Medium" panose="02000000000000000000" pitchFamily="2" charset="0"/>
                  <a:ea typeface="Roboto Light" panose="02000000000000000000" pitchFamily="2" charset="0"/>
                </a:rPr>
                <a:t> Layout </a:t>
              </a:r>
              <a:r>
                <a:rPr lang="en-AU" sz="1000" dirty="0">
                  <a:solidFill>
                    <a:srgbClr val="000005"/>
                  </a:solidFill>
                  <a:latin typeface="Roboto Light" panose="02000000000000000000" pitchFamily="2" charset="0"/>
                  <a:ea typeface="Roboto Light" panose="02000000000000000000" pitchFamily="2" charset="0"/>
                </a:rPr>
                <a:t>&gt;</a:t>
              </a:r>
              <a:r>
                <a:rPr lang="en-AU" sz="1000" dirty="0">
                  <a:solidFill>
                    <a:srgbClr val="000005"/>
                  </a:solidFill>
                  <a:latin typeface="Roboto Medium" panose="02000000000000000000" pitchFamily="2" charset="0"/>
                  <a:ea typeface="Roboto Light" panose="02000000000000000000" pitchFamily="2" charset="0"/>
                </a:rPr>
                <a:t> Title</a:t>
              </a:r>
              <a:endParaRPr lang="en-US" sz="1000" dirty="0">
                <a:solidFill>
                  <a:srgbClr val="000005"/>
                </a:solidFill>
                <a:latin typeface="Roboto Medium" panose="02000000000000000000" pitchFamily="2" charset="0"/>
                <a:ea typeface="Roboto Light" panose="02000000000000000000" pitchFamily="2" charset="0"/>
              </a:endParaRPr>
            </a:p>
          </p:txBody>
        </p:sp>
        <p:grpSp>
          <p:nvGrpSpPr>
            <p:cNvPr id="10" name="Group 4">
              <a:extLst>
                <a:ext uri="{FF2B5EF4-FFF2-40B4-BE49-F238E27FC236}">
                  <a16:creationId xmlns:a16="http://schemas.microsoft.com/office/drawing/2014/main" id="{1390E5FF-ED06-4ED3-A2A7-5F6C5ED46959}"/>
                </a:ext>
              </a:extLst>
            </p:cNvPr>
            <p:cNvGrpSpPr>
              <a:grpSpLocks noChangeAspect="1"/>
            </p:cNvGrpSpPr>
            <p:nvPr/>
          </p:nvGrpSpPr>
          <p:grpSpPr bwMode="auto">
            <a:xfrm>
              <a:off x="8857913" y="1025653"/>
              <a:ext cx="356123" cy="320040"/>
              <a:chOff x="2932" y="1344"/>
              <a:chExt cx="1816" cy="1632"/>
            </a:xfrm>
            <a:solidFill>
              <a:srgbClr val="C7C5C4"/>
            </a:solidFill>
          </p:grpSpPr>
          <p:sp>
            <p:nvSpPr>
              <p:cNvPr id="11" name="Freeform 5">
                <a:extLst>
                  <a:ext uri="{FF2B5EF4-FFF2-40B4-BE49-F238E27FC236}">
                    <a16:creationId xmlns:a16="http://schemas.microsoft.com/office/drawing/2014/main" id="{75BEA090-4BDD-46F9-836F-61DC4A390EAA}"/>
                  </a:ext>
                </a:extLst>
              </p:cNvPr>
              <p:cNvSpPr>
                <a:spLocks noEditPoints="1"/>
              </p:cNvSpPr>
              <p:nvPr/>
            </p:nvSpPr>
            <p:spPr bwMode="auto">
              <a:xfrm>
                <a:off x="2932" y="1344"/>
                <a:ext cx="1806" cy="1622"/>
              </a:xfrm>
              <a:custGeom>
                <a:avLst/>
                <a:gdLst>
                  <a:gd name="T0" fmla="*/ 74 w 1806"/>
                  <a:gd name="T1" fmla="*/ 1448 h 1622"/>
                  <a:gd name="T2" fmla="*/ 231 w 1806"/>
                  <a:gd name="T3" fmla="*/ 1530 h 1622"/>
                  <a:gd name="T4" fmla="*/ 401 w 1806"/>
                  <a:gd name="T5" fmla="*/ 1588 h 1622"/>
                  <a:gd name="T6" fmla="*/ 583 w 1806"/>
                  <a:gd name="T7" fmla="*/ 1618 h 1622"/>
                  <a:gd name="T8" fmla="*/ 736 w 1806"/>
                  <a:gd name="T9" fmla="*/ 1620 h 1622"/>
                  <a:gd name="T10" fmla="*/ 960 w 1806"/>
                  <a:gd name="T11" fmla="*/ 1586 h 1622"/>
                  <a:gd name="T12" fmla="*/ 1167 w 1806"/>
                  <a:gd name="T13" fmla="*/ 1512 h 1622"/>
                  <a:gd name="T14" fmla="*/ 1353 w 1806"/>
                  <a:gd name="T15" fmla="*/ 1398 h 1622"/>
                  <a:gd name="T16" fmla="*/ 1513 w 1806"/>
                  <a:gd name="T17" fmla="*/ 1254 h 1622"/>
                  <a:gd name="T18" fmla="*/ 1644 w 1806"/>
                  <a:gd name="T19" fmla="*/ 1080 h 1622"/>
                  <a:gd name="T20" fmla="*/ 1738 w 1806"/>
                  <a:gd name="T21" fmla="*/ 884 h 1622"/>
                  <a:gd name="T22" fmla="*/ 1794 w 1806"/>
                  <a:gd name="T23" fmla="*/ 668 h 1622"/>
                  <a:gd name="T24" fmla="*/ 1806 w 1806"/>
                  <a:gd name="T25" fmla="*/ 496 h 1622"/>
                  <a:gd name="T26" fmla="*/ 1776 w 1806"/>
                  <a:gd name="T27" fmla="*/ 238 h 1622"/>
                  <a:gd name="T28" fmla="*/ 1692 w 1806"/>
                  <a:gd name="T29" fmla="*/ 0 h 1622"/>
                  <a:gd name="T30" fmla="*/ 1437 w 1806"/>
                  <a:gd name="T31" fmla="*/ 1044 h 1622"/>
                  <a:gd name="T32" fmla="*/ 1421 w 1806"/>
                  <a:gd name="T33" fmla="*/ 1126 h 1622"/>
                  <a:gd name="T34" fmla="*/ 1375 w 1806"/>
                  <a:gd name="T35" fmla="*/ 1192 h 1622"/>
                  <a:gd name="T36" fmla="*/ 1309 w 1806"/>
                  <a:gd name="T37" fmla="*/ 1238 h 1622"/>
                  <a:gd name="T38" fmla="*/ 1227 w 1806"/>
                  <a:gd name="T39" fmla="*/ 1254 h 1622"/>
                  <a:gd name="T40" fmla="*/ 1163 w 1806"/>
                  <a:gd name="T41" fmla="*/ 1246 h 1622"/>
                  <a:gd name="T42" fmla="*/ 1092 w 1806"/>
                  <a:gd name="T43" fmla="*/ 1206 h 1622"/>
                  <a:gd name="T44" fmla="*/ 1040 w 1806"/>
                  <a:gd name="T45" fmla="*/ 1144 h 1622"/>
                  <a:gd name="T46" fmla="*/ 1016 w 1806"/>
                  <a:gd name="T47" fmla="*/ 1066 h 1622"/>
                  <a:gd name="T48" fmla="*/ 1018 w 1806"/>
                  <a:gd name="T49" fmla="*/ 1000 h 1622"/>
                  <a:gd name="T50" fmla="*/ 1050 w 1806"/>
                  <a:gd name="T51" fmla="*/ 926 h 1622"/>
                  <a:gd name="T52" fmla="*/ 1108 w 1806"/>
                  <a:gd name="T53" fmla="*/ 868 h 1622"/>
                  <a:gd name="T54" fmla="*/ 1183 w 1806"/>
                  <a:gd name="T55" fmla="*/ 836 h 1622"/>
                  <a:gd name="T56" fmla="*/ 1249 w 1806"/>
                  <a:gd name="T57" fmla="*/ 834 h 1622"/>
                  <a:gd name="T58" fmla="*/ 1327 w 1806"/>
                  <a:gd name="T59" fmla="*/ 858 h 1622"/>
                  <a:gd name="T60" fmla="*/ 1389 w 1806"/>
                  <a:gd name="T61" fmla="*/ 910 h 1622"/>
                  <a:gd name="T62" fmla="*/ 1429 w 1806"/>
                  <a:gd name="T63" fmla="*/ 980 h 1622"/>
                  <a:gd name="T64" fmla="*/ 1437 w 1806"/>
                  <a:gd name="T65" fmla="*/ 1044 h 1622"/>
                  <a:gd name="T66" fmla="*/ 1030 w 1806"/>
                  <a:gd name="T67" fmla="*/ 264 h 1622"/>
                  <a:gd name="T68" fmla="*/ 1092 w 1806"/>
                  <a:gd name="T69" fmla="*/ 416 h 1622"/>
                  <a:gd name="T70" fmla="*/ 1092 w 1806"/>
                  <a:gd name="T71" fmla="*/ 576 h 1622"/>
                  <a:gd name="T72" fmla="*/ 1030 w 1806"/>
                  <a:gd name="T73" fmla="*/ 728 h 1622"/>
                  <a:gd name="T74" fmla="*/ 944 w 1806"/>
                  <a:gd name="T75" fmla="*/ 824 h 1622"/>
                  <a:gd name="T76" fmla="*/ 798 w 1806"/>
                  <a:gd name="T77" fmla="*/ 900 h 1622"/>
                  <a:gd name="T78" fmla="*/ 637 w 1806"/>
                  <a:gd name="T79" fmla="*/ 916 h 1622"/>
                  <a:gd name="T80" fmla="*/ 481 w 1806"/>
                  <a:gd name="T81" fmla="*/ 870 h 1622"/>
                  <a:gd name="T82" fmla="*/ 379 w 1806"/>
                  <a:gd name="T83" fmla="*/ 794 h 1622"/>
                  <a:gd name="T84" fmla="*/ 285 w 1806"/>
                  <a:gd name="T85" fmla="*/ 654 h 1622"/>
                  <a:gd name="T86" fmla="*/ 255 w 1806"/>
                  <a:gd name="T87" fmla="*/ 496 h 1622"/>
                  <a:gd name="T88" fmla="*/ 285 w 1806"/>
                  <a:gd name="T89" fmla="*/ 336 h 1622"/>
                  <a:gd name="T90" fmla="*/ 379 w 1806"/>
                  <a:gd name="T91" fmla="*/ 198 h 1622"/>
                  <a:gd name="T92" fmla="*/ 481 w 1806"/>
                  <a:gd name="T93" fmla="*/ 122 h 1622"/>
                  <a:gd name="T94" fmla="*/ 637 w 1806"/>
                  <a:gd name="T95" fmla="*/ 76 h 1622"/>
                  <a:gd name="T96" fmla="*/ 798 w 1806"/>
                  <a:gd name="T97" fmla="*/ 90 h 1622"/>
                  <a:gd name="T98" fmla="*/ 944 w 1806"/>
                  <a:gd name="T99" fmla="*/ 168 h 1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06" h="1622">
                    <a:moveTo>
                      <a:pt x="0" y="1398"/>
                    </a:moveTo>
                    <a:lnTo>
                      <a:pt x="0" y="1398"/>
                    </a:lnTo>
                    <a:lnTo>
                      <a:pt x="36" y="1424"/>
                    </a:lnTo>
                    <a:lnTo>
                      <a:pt x="74" y="1448"/>
                    </a:lnTo>
                    <a:lnTo>
                      <a:pt x="112" y="1470"/>
                    </a:lnTo>
                    <a:lnTo>
                      <a:pt x="150" y="1492"/>
                    </a:lnTo>
                    <a:lnTo>
                      <a:pt x="190" y="1512"/>
                    </a:lnTo>
                    <a:lnTo>
                      <a:pt x="231" y="1530"/>
                    </a:lnTo>
                    <a:lnTo>
                      <a:pt x="273" y="1548"/>
                    </a:lnTo>
                    <a:lnTo>
                      <a:pt x="315" y="1562"/>
                    </a:lnTo>
                    <a:lnTo>
                      <a:pt x="357" y="1576"/>
                    </a:lnTo>
                    <a:lnTo>
                      <a:pt x="401" y="1588"/>
                    </a:lnTo>
                    <a:lnTo>
                      <a:pt x="445" y="1598"/>
                    </a:lnTo>
                    <a:lnTo>
                      <a:pt x="491" y="1608"/>
                    </a:lnTo>
                    <a:lnTo>
                      <a:pt x="537" y="1614"/>
                    </a:lnTo>
                    <a:lnTo>
                      <a:pt x="583" y="1618"/>
                    </a:lnTo>
                    <a:lnTo>
                      <a:pt x="629" y="1622"/>
                    </a:lnTo>
                    <a:lnTo>
                      <a:pt x="677" y="1622"/>
                    </a:lnTo>
                    <a:lnTo>
                      <a:pt x="677" y="1622"/>
                    </a:lnTo>
                    <a:lnTo>
                      <a:pt x="736" y="1620"/>
                    </a:lnTo>
                    <a:lnTo>
                      <a:pt x="794" y="1616"/>
                    </a:lnTo>
                    <a:lnTo>
                      <a:pt x="850" y="1610"/>
                    </a:lnTo>
                    <a:lnTo>
                      <a:pt x="904" y="1600"/>
                    </a:lnTo>
                    <a:lnTo>
                      <a:pt x="960" y="1586"/>
                    </a:lnTo>
                    <a:lnTo>
                      <a:pt x="1012" y="1572"/>
                    </a:lnTo>
                    <a:lnTo>
                      <a:pt x="1066" y="1554"/>
                    </a:lnTo>
                    <a:lnTo>
                      <a:pt x="1116" y="1534"/>
                    </a:lnTo>
                    <a:lnTo>
                      <a:pt x="1167" y="1512"/>
                    </a:lnTo>
                    <a:lnTo>
                      <a:pt x="1215" y="1486"/>
                    </a:lnTo>
                    <a:lnTo>
                      <a:pt x="1263" y="1460"/>
                    </a:lnTo>
                    <a:lnTo>
                      <a:pt x="1309" y="1430"/>
                    </a:lnTo>
                    <a:lnTo>
                      <a:pt x="1353" y="1398"/>
                    </a:lnTo>
                    <a:lnTo>
                      <a:pt x="1395" y="1366"/>
                    </a:lnTo>
                    <a:lnTo>
                      <a:pt x="1437" y="1330"/>
                    </a:lnTo>
                    <a:lnTo>
                      <a:pt x="1475" y="1292"/>
                    </a:lnTo>
                    <a:lnTo>
                      <a:pt x="1513" y="1254"/>
                    </a:lnTo>
                    <a:lnTo>
                      <a:pt x="1549" y="1212"/>
                    </a:lnTo>
                    <a:lnTo>
                      <a:pt x="1581" y="1170"/>
                    </a:lnTo>
                    <a:lnTo>
                      <a:pt x="1614" y="1126"/>
                    </a:lnTo>
                    <a:lnTo>
                      <a:pt x="1644" y="1080"/>
                    </a:lnTo>
                    <a:lnTo>
                      <a:pt x="1670" y="1032"/>
                    </a:lnTo>
                    <a:lnTo>
                      <a:pt x="1696" y="984"/>
                    </a:lnTo>
                    <a:lnTo>
                      <a:pt x="1718" y="934"/>
                    </a:lnTo>
                    <a:lnTo>
                      <a:pt x="1738" y="884"/>
                    </a:lnTo>
                    <a:lnTo>
                      <a:pt x="1756" y="830"/>
                    </a:lnTo>
                    <a:lnTo>
                      <a:pt x="1770" y="778"/>
                    </a:lnTo>
                    <a:lnTo>
                      <a:pt x="1784" y="722"/>
                    </a:lnTo>
                    <a:lnTo>
                      <a:pt x="1794" y="668"/>
                    </a:lnTo>
                    <a:lnTo>
                      <a:pt x="1800" y="612"/>
                    </a:lnTo>
                    <a:lnTo>
                      <a:pt x="1804" y="554"/>
                    </a:lnTo>
                    <a:lnTo>
                      <a:pt x="1806" y="496"/>
                    </a:lnTo>
                    <a:lnTo>
                      <a:pt x="1806" y="496"/>
                    </a:lnTo>
                    <a:lnTo>
                      <a:pt x="1804" y="430"/>
                    </a:lnTo>
                    <a:lnTo>
                      <a:pt x="1798" y="364"/>
                    </a:lnTo>
                    <a:lnTo>
                      <a:pt x="1790" y="300"/>
                    </a:lnTo>
                    <a:lnTo>
                      <a:pt x="1776" y="238"/>
                    </a:lnTo>
                    <a:lnTo>
                      <a:pt x="1760" y="176"/>
                    </a:lnTo>
                    <a:lnTo>
                      <a:pt x="1740" y="116"/>
                    </a:lnTo>
                    <a:lnTo>
                      <a:pt x="1718" y="58"/>
                    </a:lnTo>
                    <a:lnTo>
                      <a:pt x="1692" y="0"/>
                    </a:lnTo>
                    <a:lnTo>
                      <a:pt x="0" y="0"/>
                    </a:lnTo>
                    <a:lnTo>
                      <a:pt x="0" y="1398"/>
                    </a:lnTo>
                    <a:close/>
                    <a:moveTo>
                      <a:pt x="1437" y="1044"/>
                    </a:moveTo>
                    <a:lnTo>
                      <a:pt x="1437" y="1044"/>
                    </a:lnTo>
                    <a:lnTo>
                      <a:pt x="1437" y="1066"/>
                    </a:lnTo>
                    <a:lnTo>
                      <a:pt x="1433" y="1086"/>
                    </a:lnTo>
                    <a:lnTo>
                      <a:pt x="1429" y="1106"/>
                    </a:lnTo>
                    <a:lnTo>
                      <a:pt x="1421" y="1126"/>
                    </a:lnTo>
                    <a:lnTo>
                      <a:pt x="1413" y="1144"/>
                    </a:lnTo>
                    <a:lnTo>
                      <a:pt x="1401" y="1162"/>
                    </a:lnTo>
                    <a:lnTo>
                      <a:pt x="1389" y="1178"/>
                    </a:lnTo>
                    <a:lnTo>
                      <a:pt x="1375" y="1192"/>
                    </a:lnTo>
                    <a:lnTo>
                      <a:pt x="1361" y="1206"/>
                    </a:lnTo>
                    <a:lnTo>
                      <a:pt x="1345" y="1218"/>
                    </a:lnTo>
                    <a:lnTo>
                      <a:pt x="1327" y="1230"/>
                    </a:lnTo>
                    <a:lnTo>
                      <a:pt x="1309" y="1238"/>
                    </a:lnTo>
                    <a:lnTo>
                      <a:pt x="1289" y="1246"/>
                    </a:lnTo>
                    <a:lnTo>
                      <a:pt x="1269" y="1250"/>
                    </a:lnTo>
                    <a:lnTo>
                      <a:pt x="1249" y="1254"/>
                    </a:lnTo>
                    <a:lnTo>
                      <a:pt x="1227" y="1254"/>
                    </a:lnTo>
                    <a:lnTo>
                      <a:pt x="1227" y="1254"/>
                    </a:lnTo>
                    <a:lnTo>
                      <a:pt x="1205" y="1254"/>
                    </a:lnTo>
                    <a:lnTo>
                      <a:pt x="1183" y="1250"/>
                    </a:lnTo>
                    <a:lnTo>
                      <a:pt x="1163" y="1246"/>
                    </a:lnTo>
                    <a:lnTo>
                      <a:pt x="1145" y="1238"/>
                    </a:lnTo>
                    <a:lnTo>
                      <a:pt x="1124" y="1230"/>
                    </a:lnTo>
                    <a:lnTo>
                      <a:pt x="1108" y="1218"/>
                    </a:lnTo>
                    <a:lnTo>
                      <a:pt x="1092" y="1206"/>
                    </a:lnTo>
                    <a:lnTo>
                      <a:pt x="1076" y="1192"/>
                    </a:lnTo>
                    <a:lnTo>
                      <a:pt x="1062" y="1178"/>
                    </a:lnTo>
                    <a:lnTo>
                      <a:pt x="1050" y="1162"/>
                    </a:lnTo>
                    <a:lnTo>
                      <a:pt x="1040" y="1144"/>
                    </a:lnTo>
                    <a:lnTo>
                      <a:pt x="1030" y="1126"/>
                    </a:lnTo>
                    <a:lnTo>
                      <a:pt x="1024" y="1106"/>
                    </a:lnTo>
                    <a:lnTo>
                      <a:pt x="1018" y="1086"/>
                    </a:lnTo>
                    <a:lnTo>
                      <a:pt x="1016" y="1066"/>
                    </a:lnTo>
                    <a:lnTo>
                      <a:pt x="1014" y="1044"/>
                    </a:lnTo>
                    <a:lnTo>
                      <a:pt x="1014" y="1044"/>
                    </a:lnTo>
                    <a:lnTo>
                      <a:pt x="1016" y="1022"/>
                    </a:lnTo>
                    <a:lnTo>
                      <a:pt x="1018" y="1000"/>
                    </a:lnTo>
                    <a:lnTo>
                      <a:pt x="1024" y="980"/>
                    </a:lnTo>
                    <a:lnTo>
                      <a:pt x="1030" y="962"/>
                    </a:lnTo>
                    <a:lnTo>
                      <a:pt x="1040" y="942"/>
                    </a:lnTo>
                    <a:lnTo>
                      <a:pt x="1050" y="926"/>
                    </a:lnTo>
                    <a:lnTo>
                      <a:pt x="1062" y="910"/>
                    </a:lnTo>
                    <a:lnTo>
                      <a:pt x="1076" y="894"/>
                    </a:lnTo>
                    <a:lnTo>
                      <a:pt x="1092" y="880"/>
                    </a:lnTo>
                    <a:lnTo>
                      <a:pt x="1108" y="868"/>
                    </a:lnTo>
                    <a:lnTo>
                      <a:pt x="1124" y="858"/>
                    </a:lnTo>
                    <a:lnTo>
                      <a:pt x="1145" y="848"/>
                    </a:lnTo>
                    <a:lnTo>
                      <a:pt x="1163" y="842"/>
                    </a:lnTo>
                    <a:lnTo>
                      <a:pt x="1183" y="836"/>
                    </a:lnTo>
                    <a:lnTo>
                      <a:pt x="1205" y="834"/>
                    </a:lnTo>
                    <a:lnTo>
                      <a:pt x="1227" y="832"/>
                    </a:lnTo>
                    <a:lnTo>
                      <a:pt x="1227" y="832"/>
                    </a:lnTo>
                    <a:lnTo>
                      <a:pt x="1249" y="834"/>
                    </a:lnTo>
                    <a:lnTo>
                      <a:pt x="1269" y="836"/>
                    </a:lnTo>
                    <a:lnTo>
                      <a:pt x="1289" y="842"/>
                    </a:lnTo>
                    <a:lnTo>
                      <a:pt x="1309" y="848"/>
                    </a:lnTo>
                    <a:lnTo>
                      <a:pt x="1327" y="858"/>
                    </a:lnTo>
                    <a:lnTo>
                      <a:pt x="1345" y="868"/>
                    </a:lnTo>
                    <a:lnTo>
                      <a:pt x="1361" y="880"/>
                    </a:lnTo>
                    <a:lnTo>
                      <a:pt x="1375" y="894"/>
                    </a:lnTo>
                    <a:lnTo>
                      <a:pt x="1389" y="910"/>
                    </a:lnTo>
                    <a:lnTo>
                      <a:pt x="1401" y="926"/>
                    </a:lnTo>
                    <a:lnTo>
                      <a:pt x="1413" y="942"/>
                    </a:lnTo>
                    <a:lnTo>
                      <a:pt x="1421" y="962"/>
                    </a:lnTo>
                    <a:lnTo>
                      <a:pt x="1429" y="980"/>
                    </a:lnTo>
                    <a:lnTo>
                      <a:pt x="1433" y="1000"/>
                    </a:lnTo>
                    <a:lnTo>
                      <a:pt x="1437" y="1022"/>
                    </a:lnTo>
                    <a:lnTo>
                      <a:pt x="1437" y="1044"/>
                    </a:lnTo>
                    <a:lnTo>
                      <a:pt x="1437" y="1044"/>
                    </a:lnTo>
                    <a:close/>
                    <a:moveTo>
                      <a:pt x="976" y="198"/>
                    </a:moveTo>
                    <a:lnTo>
                      <a:pt x="976" y="198"/>
                    </a:lnTo>
                    <a:lnTo>
                      <a:pt x="1006" y="230"/>
                    </a:lnTo>
                    <a:lnTo>
                      <a:pt x="1030" y="264"/>
                    </a:lnTo>
                    <a:lnTo>
                      <a:pt x="1052" y="300"/>
                    </a:lnTo>
                    <a:lnTo>
                      <a:pt x="1070" y="336"/>
                    </a:lnTo>
                    <a:lnTo>
                      <a:pt x="1082" y="376"/>
                    </a:lnTo>
                    <a:lnTo>
                      <a:pt x="1092" y="416"/>
                    </a:lnTo>
                    <a:lnTo>
                      <a:pt x="1098" y="456"/>
                    </a:lnTo>
                    <a:lnTo>
                      <a:pt x="1100" y="496"/>
                    </a:lnTo>
                    <a:lnTo>
                      <a:pt x="1098" y="536"/>
                    </a:lnTo>
                    <a:lnTo>
                      <a:pt x="1092" y="576"/>
                    </a:lnTo>
                    <a:lnTo>
                      <a:pt x="1082" y="616"/>
                    </a:lnTo>
                    <a:lnTo>
                      <a:pt x="1070" y="654"/>
                    </a:lnTo>
                    <a:lnTo>
                      <a:pt x="1052" y="692"/>
                    </a:lnTo>
                    <a:lnTo>
                      <a:pt x="1030" y="728"/>
                    </a:lnTo>
                    <a:lnTo>
                      <a:pt x="1006" y="762"/>
                    </a:lnTo>
                    <a:lnTo>
                      <a:pt x="976" y="794"/>
                    </a:lnTo>
                    <a:lnTo>
                      <a:pt x="976" y="794"/>
                    </a:lnTo>
                    <a:lnTo>
                      <a:pt x="944" y="824"/>
                    </a:lnTo>
                    <a:lnTo>
                      <a:pt x="910" y="848"/>
                    </a:lnTo>
                    <a:lnTo>
                      <a:pt x="874" y="870"/>
                    </a:lnTo>
                    <a:lnTo>
                      <a:pt x="836" y="888"/>
                    </a:lnTo>
                    <a:lnTo>
                      <a:pt x="798" y="900"/>
                    </a:lnTo>
                    <a:lnTo>
                      <a:pt x="758" y="910"/>
                    </a:lnTo>
                    <a:lnTo>
                      <a:pt x="718" y="916"/>
                    </a:lnTo>
                    <a:lnTo>
                      <a:pt x="677" y="918"/>
                    </a:lnTo>
                    <a:lnTo>
                      <a:pt x="637" y="916"/>
                    </a:lnTo>
                    <a:lnTo>
                      <a:pt x="597" y="910"/>
                    </a:lnTo>
                    <a:lnTo>
                      <a:pt x="557" y="900"/>
                    </a:lnTo>
                    <a:lnTo>
                      <a:pt x="517" y="888"/>
                    </a:lnTo>
                    <a:lnTo>
                      <a:pt x="481" y="870"/>
                    </a:lnTo>
                    <a:lnTo>
                      <a:pt x="445" y="848"/>
                    </a:lnTo>
                    <a:lnTo>
                      <a:pt x="411" y="824"/>
                    </a:lnTo>
                    <a:lnTo>
                      <a:pt x="379" y="794"/>
                    </a:lnTo>
                    <a:lnTo>
                      <a:pt x="379" y="794"/>
                    </a:lnTo>
                    <a:lnTo>
                      <a:pt x="349" y="762"/>
                    </a:lnTo>
                    <a:lnTo>
                      <a:pt x="325" y="728"/>
                    </a:lnTo>
                    <a:lnTo>
                      <a:pt x="303" y="692"/>
                    </a:lnTo>
                    <a:lnTo>
                      <a:pt x="285" y="654"/>
                    </a:lnTo>
                    <a:lnTo>
                      <a:pt x="271" y="616"/>
                    </a:lnTo>
                    <a:lnTo>
                      <a:pt x="263" y="576"/>
                    </a:lnTo>
                    <a:lnTo>
                      <a:pt x="257" y="536"/>
                    </a:lnTo>
                    <a:lnTo>
                      <a:pt x="255" y="496"/>
                    </a:lnTo>
                    <a:lnTo>
                      <a:pt x="257" y="456"/>
                    </a:lnTo>
                    <a:lnTo>
                      <a:pt x="263" y="416"/>
                    </a:lnTo>
                    <a:lnTo>
                      <a:pt x="271" y="376"/>
                    </a:lnTo>
                    <a:lnTo>
                      <a:pt x="285" y="336"/>
                    </a:lnTo>
                    <a:lnTo>
                      <a:pt x="303" y="300"/>
                    </a:lnTo>
                    <a:lnTo>
                      <a:pt x="325" y="264"/>
                    </a:lnTo>
                    <a:lnTo>
                      <a:pt x="349" y="230"/>
                    </a:lnTo>
                    <a:lnTo>
                      <a:pt x="379" y="198"/>
                    </a:lnTo>
                    <a:lnTo>
                      <a:pt x="379" y="198"/>
                    </a:lnTo>
                    <a:lnTo>
                      <a:pt x="411" y="168"/>
                    </a:lnTo>
                    <a:lnTo>
                      <a:pt x="445" y="144"/>
                    </a:lnTo>
                    <a:lnTo>
                      <a:pt x="481" y="122"/>
                    </a:lnTo>
                    <a:lnTo>
                      <a:pt x="517" y="104"/>
                    </a:lnTo>
                    <a:lnTo>
                      <a:pt x="557" y="90"/>
                    </a:lnTo>
                    <a:lnTo>
                      <a:pt x="597" y="82"/>
                    </a:lnTo>
                    <a:lnTo>
                      <a:pt x="637" y="76"/>
                    </a:lnTo>
                    <a:lnTo>
                      <a:pt x="677" y="74"/>
                    </a:lnTo>
                    <a:lnTo>
                      <a:pt x="718" y="76"/>
                    </a:lnTo>
                    <a:lnTo>
                      <a:pt x="758" y="82"/>
                    </a:lnTo>
                    <a:lnTo>
                      <a:pt x="798" y="90"/>
                    </a:lnTo>
                    <a:lnTo>
                      <a:pt x="836" y="104"/>
                    </a:lnTo>
                    <a:lnTo>
                      <a:pt x="874" y="122"/>
                    </a:lnTo>
                    <a:lnTo>
                      <a:pt x="910" y="144"/>
                    </a:lnTo>
                    <a:lnTo>
                      <a:pt x="944" y="168"/>
                    </a:lnTo>
                    <a:lnTo>
                      <a:pt x="976" y="198"/>
                    </a:lnTo>
                    <a:lnTo>
                      <a:pt x="976" y="198"/>
                    </a:lnTo>
                    <a:close/>
                  </a:path>
                </a:pathLst>
              </a:custGeom>
              <a:solidFill>
                <a:srgbClr val="C7C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sp>
            <p:nvSpPr>
              <p:cNvPr id="12" name="Freeform 6">
                <a:extLst>
                  <a:ext uri="{FF2B5EF4-FFF2-40B4-BE49-F238E27FC236}">
                    <a16:creationId xmlns:a16="http://schemas.microsoft.com/office/drawing/2014/main" id="{292C9998-AD07-4460-83CC-108E7A6FF05E}"/>
                  </a:ext>
                </a:extLst>
              </p:cNvPr>
              <p:cNvSpPr>
                <a:spLocks/>
              </p:cNvSpPr>
              <p:nvPr/>
            </p:nvSpPr>
            <p:spPr bwMode="auto">
              <a:xfrm>
                <a:off x="4465" y="2694"/>
                <a:ext cx="283" cy="282"/>
              </a:xfrm>
              <a:custGeom>
                <a:avLst/>
                <a:gdLst>
                  <a:gd name="T0" fmla="*/ 143 w 283"/>
                  <a:gd name="T1" fmla="*/ 0 h 282"/>
                  <a:gd name="T2" fmla="*/ 115 w 283"/>
                  <a:gd name="T3" fmla="*/ 4 h 282"/>
                  <a:gd name="T4" fmla="*/ 87 w 283"/>
                  <a:gd name="T5" fmla="*/ 12 h 282"/>
                  <a:gd name="T6" fmla="*/ 63 w 283"/>
                  <a:gd name="T7" fmla="*/ 24 h 282"/>
                  <a:gd name="T8" fmla="*/ 42 w 283"/>
                  <a:gd name="T9" fmla="*/ 42 h 282"/>
                  <a:gd name="T10" fmla="*/ 24 w 283"/>
                  <a:gd name="T11" fmla="*/ 62 h 282"/>
                  <a:gd name="T12" fmla="*/ 12 w 283"/>
                  <a:gd name="T13" fmla="*/ 86 h 282"/>
                  <a:gd name="T14" fmla="*/ 4 w 283"/>
                  <a:gd name="T15" fmla="*/ 114 h 282"/>
                  <a:gd name="T16" fmla="*/ 0 w 283"/>
                  <a:gd name="T17" fmla="*/ 142 h 282"/>
                  <a:gd name="T18" fmla="*/ 2 w 283"/>
                  <a:gd name="T19" fmla="*/ 156 h 282"/>
                  <a:gd name="T20" fmla="*/ 8 w 283"/>
                  <a:gd name="T21" fmla="*/ 184 h 282"/>
                  <a:gd name="T22" fmla="*/ 18 w 283"/>
                  <a:gd name="T23" fmla="*/ 208 h 282"/>
                  <a:gd name="T24" fmla="*/ 32 w 283"/>
                  <a:gd name="T25" fmla="*/ 232 h 282"/>
                  <a:gd name="T26" fmla="*/ 52 w 283"/>
                  <a:gd name="T27" fmla="*/ 250 h 282"/>
                  <a:gd name="T28" fmla="*/ 75 w 283"/>
                  <a:gd name="T29" fmla="*/ 266 h 282"/>
                  <a:gd name="T30" fmla="*/ 101 w 283"/>
                  <a:gd name="T31" fmla="*/ 276 h 282"/>
                  <a:gd name="T32" fmla="*/ 129 w 283"/>
                  <a:gd name="T33" fmla="*/ 282 h 282"/>
                  <a:gd name="T34" fmla="*/ 143 w 283"/>
                  <a:gd name="T35" fmla="*/ 282 h 282"/>
                  <a:gd name="T36" fmla="*/ 171 w 283"/>
                  <a:gd name="T37" fmla="*/ 280 h 282"/>
                  <a:gd name="T38" fmla="*/ 197 w 283"/>
                  <a:gd name="T39" fmla="*/ 272 h 282"/>
                  <a:gd name="T40" fmla="*/ 221 w 283"/>
                  <a:gd name="T41" fmla="*/ 258 h 282"/>
                  <a:gd name="T42" fmla="*/ 243 w 283"/>
                  <a:gd name="T43" fmla="*/ 242 h 282"/>
                  <a:gd name="T44" fmla="*/ 259 w 283"/>
                  <a:gd name="T45" fmla="*/ 220 h 282"/>
                  <a:gd name="T46" fmla="*/ 273 w 283"/>
                  <a:gd name="T47" fmla="*/ 196 h 282"/>
                  <a:gd name="T48" fmla="*/ 281 w 283"/>
                  <a:gd name="T49" fmla="*/ 170 h 282"/>
                  <a:gd name="T50" fmla="*/ 283 w 283"/>
                  <a:gd name="T51" fmla="*/ 142 h 282"/>
                  <a:gd name="T52" fmla="*/ 283 w 283"/>
                  <a:gd name="T53" fmla="*/ 128 h 282"/>
                  <a:gd name="T54" fmla="*/ 277 w 283"/>
                  <a:gd name="T55" fmla="*/ 100 h 282"/>
                  <a:gd name="T56" fmla="*/ 267 w 283"/>
                  <a:gd name="T57" fmla="*/ 74 h 282"/>
                  <a:gd name="T58" fmla="*/ 251 w 283"/>
                  <a:gd name="T59" fmla="*/ 52 h 282"/>
                  <a:gd name="T60" fmla="*/ 233 w 283"/>
                  <a:gd name="T61" fmla="*/ 34 h 282"/>
                  <a:gd name="T62" fmla="*/ 209 w 283"/>
                  <a:gd name="T63" fmla="*/ 18 h 282"/>
                  <a:gd name="T64" fmla="*/ 185 w 283"/>
                  <a:gd name="T65" fmla="*/ 8 h 282"/>
                  <a:gd name="T66" fmla="*/ 157 w 283"/>
                  <a:gd name="T67" fmla="*/ 2 h 282"/>
                  <a:gd name="T68" fmla="*/ 143 w 283"/>
                  <a:gd name="T69"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82">
                    <a:moveTo>
                      <a:pt x="143" y="0"/>
                    </a:moveTo>
                    <a:lnTo>
                      <a:pt x="143" y="0"/>
                    </a:lnTo>
                    <a:lnTo>
                      <a:pt x="129" y="2"/>
                    </a:lnTo>
                    <a:lnTo>
                      <a:pt x="115" y="4"/>
                    </a:lnTo>
                    <a:lnTo>
                      <a:pt x="101" y="8"/>
                    </a:lnTo>
                    <a:lnTo>
                      <a:pt x="87" y="12"/>
                    </a:lnTo>
                    <a:lnTo>
                      <a:pt x="75" y="18"/>
                    </a:lnTo>
                    <a:lnTo>
                      <a:pt x="63" y="24"/>
                    </a:lnTo>
                    <a:lnTo>
                      <a:pt x="52" y="34"/>
                    </a:lnTo>
                    <a:lnTo>
                      <a:pt x="42" y="42"/>
                    </a:lnTo>
                    <a:lnTo>
                      <a:pt x="32" y="52"/>
                    </a:lnTo>
                    <a:lnTo>
                      <a:pt x="24" y="62"/>
                    </a:lnTo>
                    <a:lnTo>
                      <a:pt x="18" y="74"/>
                    </a:lnTo>
                    <a:lnTo>
                      <a:pt x="12" y="86"/>
                    </a:lnTo>
                    <a:lnTo>
                      <a:pt x="8" y="100"/>
                    </a:lnTo>
                    <a:lnTo>
                      <a:pt x="4" y="114"/>
                    </a:lnTo>
                    <a:lnTo>
                      <a:pt x="2" y="128"/>
                    </a:lnTo>
                    <a:lnTo>
                      <a:pt x="0" y="142"/>
                    </a:lnTo>
                    <a:lnTo>
                      <a:pt x="0" y="142"/>
                    </a:lnTo>
                    <a:lnTo>
                      <a:pt x="2" y="156"/>
                    </a:lnTo>
                    <a:lnTo>
                      <a:pt x="4" y="170"/>
                    </a:lnTo>
                    <a:lnTo>
                      <a:pt x="8" y="184"/>
                    </a:lnTo>
                    <a:lnTo>
                      <a:pt x="12" y="196"/>
                    </a:lnTo>
                    <a:lnTo>
                      <a:pt x="18" y="208"/>
                    </a:lnTo>
                    <a:lnTo>
                      <a:pt x="24" y="220"/>
                    </a:lnTo>
                    <a:lnTo>
                      <a:pt x="32" y="232"/>
                    </a:lnTo>
                    <a:lnTo>
                      <a:pt x="42" y="242"/>
                    </a:lnTo>
                    <a:lnTo>
                      <a:pt x="52" y="250"/>
                    </a:lnTo>
                    <a:lnTo>
                      <a:pt x="63" y="258"/>
                    </a:lnTo>
                    <a:lnTo>
                      <a:pt x="75" y="266"/>
                    </a:lnTo>
                    <a:lnTo>
                      <a:pt x="87" y="272"/>
                    </a:lnTo>
                    <a:lnTo>
                      <a:pt x="101" y="276"/>
                    </a:lnTo>
                    <a:lnTo>
                      <a:pt x="115" y="280"/>
                    </a:lnTo>
                    <a:lnTo>
                      <a:pt x="129" y="282"/>
                    </a:lnTo>
                    <a:lnTo>
                      <a:pt x="143" y="282"/>
                    </a:lnTo>
                    <a:lnTo>
                      <a:pt x="143" y="282"/>
                    </a:lnTo>
                    <a:lnTo>
                      <a:pt x="157" y="282"/>
                    </a:lnTo>
                    <a:lnTo>
                      <a:pt x="171" y="280"/>
                    </a:lnTo>
                    <a:lnTo>
                      <a:pt x="185" y="276"/>
                    </a:lnTo>
                    <a:lnTo>
                      <a:pt x="197" y="272"/>
                    </a:lnTo>
                    <a:lnTo>
                      <a:pt x="209" y="266"/>
                    </a:lnTo>
                    <a:lnTo>
                      <a:pt x="221" y="258"/>
                    </a:lnTo>
                    <a:lnTo>
                      <a:pt x="233" y="250"/>
                    </a:lnTo>
                    <a:lnTo>
                      <a:pt x="243" y="242"/>
                    </a:lnTo>
                    <a:lnTo>
                      <a:pt x="251" y="232"/>
                    </a:lnTo>
                    <a:lnTo>
                      <a:pt x="259" y="220"/>
                    </a:lnTo>
                    <a:lnTo>
                      <a:pt x="267" y="208"/>
                    </a:lnTo>
                    <a:lnTo>
                      <a:pt x="273" y="196"/>
                    </a:lnTo>
                    <a:lnTo>
                      <a:pt x="277" y="184"/>
                    </a:lnTo>
                    <a:lnTo>
                      <a:pt x="281" y="170"/>
                    </a:lnTo>
                    <a:lnTo>
                      <a:pt x="283" y="156"/>
                    </a:lnTo>
                    <a:lnTo>
                      <a:pt x="283" y="142"/>
                    </a:lnTo>
                    <a:lnTo>
                      <a:pt x="283" y="142"/>
                    </a:lnTo>
                    <a:lnTo>
                      <a:pt x="283" y="128"/>
                    </a:lnTo>
                    <a:lnTo>
                      <a:pt x="281" y="114"/>
                    </a:lnTo>
                    <a:lnTo>
                      <a:pt x="277" y="100"/>
                    </a:lnTo>
                    <a:lnTo>
                      <a:pt x="273" y="86"/>
                    </a:lnTo>
                    <a:lnTo>
                      <a:pt x="267" y="74"/>
                    </a:lnTo>
                    <a:lnTo>
                      <a:pt x="259" y="62"/>
                    </a:lnTo>
                    <a:lnTo>
                      <a:pt x="251" y="52"/>
                    </a:lnTo>
                    <a:lnTo>
                      <a:pt x="243" y="42"/>
                    </a:lnTo>
                    <a:lnTo>
                      <a:pt x="233" y="34"/>
                    </a:lnTo>
                    <a:lnTo>
                      <a:pt x="221" y="24"/>
                    </a:lnTo>
                    <a:lnTo>
                      <a:pt x="209" y="18"/>
                    </a:lnTo>
                    <a:lnTo>
                      <a:pt x="197" y="12"/>
                    </a:lnTo>
                    <a:lnTo>
                      <a:pt x="185" y="8"/>
                    </a:lnTo>
                    <a:lnTo>
                      <a:pt x="171" y="4"/>
                    </a:lnTo>
                    <a:lnTo>
                      <a:pt x="157" y="2"/>
                    </a:lnTo>
                    <a:lnTo>
                      <a:pt x="143" y="0"/>
                    </a:lnTo>
                    <a:lnTo>
                      <a:pt x="1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grpSp>
      </p:grpSp>
      <p:sp>
        <p:nvSpPr>
          <p:cNvPr id="5" name="TextBox 4">
            <a:extLst>
              <a:ext uri="{FF2B5EF4-FFF2-40B4-BE49-F238E27FC236}">
                <a16:creationId xmlns:a16="http://schemas.microsoft.com/office/drawing/2014/main" id="{83B9F90E-D667-D362-2D46-47923CFD50D2}"/>
              </a:ext>
            </a:extLst>
          </p:cNvPr>
          <p:cNvSpPr txBox="1"/>
          <p:nvPr/>
        </p:nvSpPr>
        <p:spPr>
          <a:xfrm>
            <a:off x="6197600" y="6219446"/>
            <a:ext cx="1158240" cy="497840"/>
          </a:xfrm>
          <a:prstGeom prst="rect">
            <a:avLst/>
          </a:prstGeom>
          <a:noFill/>
        </p:spPr>
        <p:txBody>
          <a:bodyPr wrap="square" lIns="0" tIns="0" rIns="0" bIns="0" rtlCol="0" anchor="t">
            <a:noAutofit/>
          </a:bodyPr>
          <a:lstStyle/>
          <a:p>
            <a:r>
              <a:rPr lang="en-IN" sz="1200" dirty="0"/>
              <a:t>Om Hole</a:t>
            </a:r>
            <a:endParaRPr lang="en-IN" sz="1200" dirty="0">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3613081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0116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19D77A-B8A0-4A6B-9682-3967E6998622}"/>
              </a:ext>
            </a:extLst>
          </p:cNvPr>
          <p:cNvSpPr>
            <a:spLocks noGrp="1"/>
          </p:cNvSpPr>
          <p:nvPr>
            <p:ph type="body" sz="quarter" idx="10"/>
          </p:nvPr>
        </p:nvSpPr>
        <p:spPr/>
        <p:txBody>
          <a:bodyPr/>
          <a:lstStyle/>
          <a:p>
            <a:r>
              <a:rPr lang="en-AU" dirty="0"/>
              <a:t>Executive summary</a:t>
            </a:r>
          </a:p>
        </p:txBody>
      </p:sp>
      <p:sp>
        <p:nvSpPr>
          <p:cNvPr id="3" name="Oval 2">
            <a:extLst>
              <a:ext uri="{FF2B5EF4-FFF2-40B4-BE49-F238E27FC236}">
                <a16:creationId xmlns:a16="http://schemas.microsoft.com/office/drawing/2014/main" id="{FE834D79-C5FB-44EF-9EA0-68006A9AFE55}"/>
              </a:ext>
            </a:extLst>
          </p:cNvPr>
          <p:cNvSpPr/>
          <p:nvPr/>
        </p:nvSpPr>
        <p:spPr>
          <a:xfrm>
            <a:off x="1196975" y="1905000"/>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dirty="0">
                <a:solidFill>
                  <a:srgbClr val="000000"/>
                </a:solidFill>
                <a:latin typeface="Roboto Light" panose="02000000000000000000" pitchFamily="2" charset="0"/>
                <a:ea typeface="Roboto Light" panose="02000000000000000000" pitchFamily="2" charset="0"/>
              </a:rPr>
              <a:t>01</a:t>
            </a:r>
          </a:p>
        </p:txBody>
      </p:sp>
      <p:sp>
        <p:nvSpPr>
          <p:cNvPr id="4" name="Oval 3">
            <a:extLst>
              <a:ext uri="{FF2B5EF4-FFF2-40B4-BE49-F238E27FC236}">
                <a16:creationId xmlns:a16="http://schemas.microsoft.com/office/drawing/2014/main" id="{6119FD76-5291-4DCE-ABA7-CB4071977446}"/>
              </a:ext>
            </a:extLst>
          </p:cNvPr>
          <p:cNvSpPr/>
          <p:nvPr/>
        </p:nvSpPr>
        <p:spPr>
          <a:xfrm>
            <a:off x="1196975" y="4095579"/>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a:solidFill>
                  <a:srgbClr val="000000"/>
                </a:solidFill>
                <a:latin typeface="Roboto Light" panose="02000000000000000000" pitchFamily="2" charset="0"/>
                <a:ea typeface="Roboto Light" panose="02000000000000000000" pitchFamily="2" charset="0"/>
              </a:rPr>
              <a:t>02</a:t>
            </a:r>
            <a:endParaRPr lang="en-AU" dirty="0" err="1">
              <a:solidFill>
                <a:srgbClr val="000000"/>
              </a:solidFill>
              <a:latin typeface="Roboto Light" panose="02000000000000000000" pitchFamily="2" charset="0"/>
              <a:ea typeface="Roboto Light" panose="02000000000000000000" pitchFamily="2" charset="0"/>
            </a:endParaRPr>
          </a:p>
        </p:txBody>
      </p:sp>
      <p:sp>
        <p:nvSpPr>
          <p:cNvPr id="5" name="TextBox 4">
            <a:extLst>
              <a:ext uri="{FF2B5EF4-FFF2-40B4-BE49-F238E27FC236}">
                <a16:creationId xmlns:a16="http://schemas.microsoft.com/office/drawing/2014/main" id="{736F57D6-777D-47CD-9A7C-C2F9BFD0AD6D}"/>
              </a:ext>
            </a:extLst>
          </p:cNvPr>
          <p:cNvSpPr txBox="1"/>
          <p:nvPr/>
        </p:nvSpPr>
        <p:spPr>
          <a:xfrm>
            <a:off x="1935586" y="1967887"/>
            <a:ext cx="1896185" cy="1718741"/>
          </a:xfrm>
          <a:prstGeom prst="rect">
            <a:avLst/>
          </a:prstGeom>
          <a:noFill/>
        </p:spPr>
        <p:txBody>
          <a:bodyPr wrap="square" lIns="0" tIns="0" rIns="0" bIns="0" rtlCol="0" anchor="t">
            <a:noAutofit/>
          </a:bodyPr>
          <a:lstStyle/>
          <a:p>
            <a:r>
              <a:rPr lang="en-AU" sz="1400" dirty="0">
                <a:latin typeface="Roboto" panose="02000000000000000000" pitchFamily="2" charset="0"/>
                <a:ea typeface="Roboto" panose="02000000000000000000" pitchFamily="2" charset="0"/>
                <a:cs typeface="Roboto" panose="02000000000000000000" pitchFamily="2" charset="0"/>
              </a:rPr>
              <a:t>Task 1 :</a:t>
            </a:r>
          </a:p>
          <a:p>
            <a:r>
              <a:rPr lang="en-IN" sz="1400" dirty="0"/>
              <a:t>Key Insights</a:t>
            </a:r>
            <a:endParaRPr lang="en-AU" sz="1400" dirty="0">
              <a:latin typeface="Roboto" panose="02000000000000000000" pitchFamily="2" charset="0"/>
              <a:ea typeface="Roboto" panose="02000000000000000000" pitchFamily="2" charset="0"/>
              <a:cs typeface="Roboto" panose="02000000000000000000" pitchFamily="2" charset="0"/>
            </a:endParaRPr>
          </a:p>
        </p:txBody>
      </p:sp>
      <p:sp>
        <p:nvSpPr>
          <p:cNvPr id="6" name="TextBox 5">
            <a:extLst>
              <a:ext uri="{FF2B5EF4-FFF2-40B4-BE49-F238E27FC236}">
                <a16:creationId xmlns:a16="http://schemas.microsoft.com/office/drawing/2014/main" id="{137F3905-5F88-4AD8-B8BF-328D7125D24F}"/>
              </a:ext>
            </a:extLst>
          </p:cNvPr>
          <p:cNvSpPr txBox="1"/>
          <p:nvPr/>
        </p:nvSpPr>
        <p:spPr>
          <a:xfrm>
            <a:off x="1935586" y="4158465"/>
            <a:ext cx="1896185" cy="1718741"/>
          </a:xfrm>
          <a:prstGeom prst="rect">
            <a:avLst/>
          </a:prstGeom>
          <a:noFill/>
        </p:spPr>
        <p:txBody>
          <a:bodyPr wrap="square" lIns="0" tIns="0" rIns="0" bIns="0" rtlCol="0" anchor="t">
            <a:noAutofit/>
          </a:bodyPr>
          <a:lstStyle/>
          <a:p>
            <a:r>
              <a:rPr lang="en-AU" sz="1400" dirty="0">
                <a:latin typeface="Roboto" panose="02000000000000000000" pitchFamily="2" charset="0"/>
                <a:ea typeface="Roboto" panose="02000000000000000000" pitchFamily="2" charset="0"/>
                <a:cs typeface="Roboto" panose="02000000000000000000" pitchFamily="2" charset="0"/>
              </a:rPr>
              <a:t>Task 2 :</a:t>
            </a:r>
          </a:p>
          <a:p>
            <a:r>
              <a:rPr lang="en-IN" sz="1400" dirty="0"/>
              <a:t>Trial Store Analysis</a:t>
            </a:r>
            <a:endParaRPr lang="en-AU" sz="1400" dirty="0">
              <a:latin typeface="Roboto" panose="02000000000000000000" pitchFamily="2" charset="0"/>
              <a:ea typeface="Roboto" panose="02000000000000000000" pitchFamily="2" charset="0"/>
              <a:cs typeface="Roboto" panose="02000000000000000000" pitchFamily="2" charset="0"/>
            </a:endParaRPr>
          </a:p>
        </p:txBody>
      </p:sp>
      <p:sp>
        <p:nvSpPr>
          <p:cNvPr id="7" name="TextBox 6">
            <a:extLst>
              <a:ext uri="{FF2B5EF4-FFF2-40B4-BE49-F238E27FC236}">
                <a16:creationId xmlns:a16="http://schemas.microsoft.com/office/drawing/2014/main" id="{7C949C27-3E05-4AA4-A1A8-5696F6F3C356}"/>
              </a:ext>
            </a:extLst>
          </p:cNvPr>
          <p:cNvSpPr txBox="1"/>
          <p:nvPr/>
        </p:nvSpPr>
        <p:spPr>
          <a:xfrm>
            <a:off x="4095585" y="1967887"/>
            <a:ext cx="7580989" cy="1718742"/>
          </a:xfrm>
          <a:prstGeom prst="rect">
            <a:avLst/>
          </a:prstGeom>
          <a:noFill/>
        </p:spPr>
        <p:txBody>
          <a:bodyPr wrap="square" lIns="0" tIns="0" rIns="0" bIns="0" rtlCol="0" anchor="t">
            <a:noAutofit/>
          </a:bodyPr>
          <a:lstStyle/>
          <a:p>
            <a:pPr marL="285750" indent="-285750">
              <a:buFont typeface="Courier New" panose="02070309020205020404" pitchFamily="49" charset="0"/>
              <a:buChar char="o"/>
            </a:pPr>
            <a:r>
              <a:rPr lang="en-US" dirty="0"/>
              <a:t>Chips category sales are driven primarily by specific customer segments </a:t>
            </a:r>
          </a:p>
          <a:p>
            <a:pPr marL="285750" indent="-285750">
              <a:buFont typeface="Courier New" panose="02070309020205020404" pitchFamily="49" charset="0"/>
              <a:buChar char="o"/>
            </a:pPr>
            <a:r>
              <a:rPr lang="en-US" dirty="0"/>
              <a:t>Higher contribution observed from: </a:t>
            </a:r>
          </a:p>
          <a:p>
            <a:pPr marL="742950" lvl="1" indent="-285750">
              <a:buFont typeface="Arial" panose="020B0604020202020204" pitchFamily="34" charset="0"/>
              <a:buChar char="•"/>
            </a:pPr>
            <a:r>
              <a:rPr lang="en-US" dirty="0"/>
              <a:t>Mainstream and Budget customers </a:t>
            </a:r>
          </a:p>
          <a:p>
            <a:pPr marL="742950" lvl="1" indent="-285750">
              <a:buFont typeface="Arial" panose="020B0604020202020204" pitchFamily="34" charset="0"/>
              <a:buChar char="•"/>
            </a:pPr>
            <a:r>
              <a:rPr lang="en-US" dirty="0"/>
              <a:t>Young Singles/Couples and Families </a:t>
            </a:r>
          </a:p>
          <a:p>
            <a:pPr marL="285750" indent="-285750">
              <a:buFont typeface="Courier New" panose="02070309020205020404" pitchFamily="49" charset="0"/>
              <a:buChar char="o"/>
            </a:pPr>
            <a:r>
              <a:rPr lang="en-US" dirty="0"/>
              <a:t>Premium customers contribute less to overall sales volume </a:t>
            </a:r>
          </a:p>
          <a:p>
            <a:pPr marL="285750" indent="-285750">
              <a:buFont typeface="Courier New" panose="02070309020205020404" pitchFamily="49" charset="0"/>
              <a:buChar char="o"/>
            </a:pPr>
            <a:r>
              <a:rPr lang="en-US" dirty="0"/>
              <a:t>Purchasing </a:t>
            </a:r>
            <a:r>
              <a:rPr lang="en-US" dirty="0" err="1"/>
              <a:t>behaviour</a:t>
            </a:r>
            <a:r>
              <a:rPr lang="en-US" dirty="0"/>
              <a:t> varies by life stage and affluence level </a:t>
            </a:r>
          </a:p>
        </p:txBody>
      </p:sp>
      <p:sp>
        <p:nvSpPr>
          <p:cNvPr id="9" name="TextBox 8">
            <a:extLst>
              <a:ext uri="{FF2B5EF4-FFF2-40B4-BE49-F238E27FC236}">
                <a16:creationId xmlns:a16="http://schemas.microsoft.com/office/drawing/2014/main" id="{FF9D96EA-4B80-4F92-A071-B09915E427CE}"/>
              </a:ext>
            </a:extLst>
          </p:cNvPr>
          <p:cNvSpPr txBox="1"/>
          <p:nvPr/>
        </p:nvSpPr>
        <p:spPr>
          <a:xfrm>
            <a:off x="4095585" y="4158466"/>
            <a:ext cx="7580989" cy="2364254"/>
          </a:xfrm>
          <a:prstGeom prst="rect">
            <a:avLst/>
          </a:prstGeom>
          <a:noFill/>
        </p:spPr>
        <p:txBody>
          <a:bodyPr wrap="square" lIns="0" tIns="0" rIns="0" bIns="0" rtlCol="0" anchor="t">
            <a:noAutofit/>
          </a:bodyPr>
          <a:lstStyle/>
          <a:p>
            <a:pPr marL="285750" indent="-285750">
              <a:buFont typeface="Courier New" panose="02070309020205020404" pitchFamily="49" charset="0"/>
              <a:buChar char="o"/>
            </a:pPr>
            <a:r>
              <a:rPr lang="en-US" dirty="0"/>
              <a:t>Control stores were selected using correlation based on: </a:t>
            </a:r>
          </a:p>
          <a:p>
            <a:pPr marL="742950" lvl="1" indent="-285750">
              <a:buFont typeface="Arial" panose="020B0604020202020204" pitchFamily="34" charset="0"/>
              <a:buChar char="•"/>
            </a:pPr>
            <a:r>
              <a:rPr lang="en-US" dirty="0"/>
              <a:t>Sales </a:t>
            </a:r>
          </a:p>
          <a:p>
            <a:pPr marL="742950" lvl="1" indent="-285750">
              <a:buFont typeface="Arial" panose="020B0604020202020204" pitchFamily="34" charset="0"/>
              <a:buChar char="•"/>
            </a:pPr>
            <a:r>
              <a:rPr lang="en-US" dirty="0"/>
              <a:t>Number of customers </a:t>
            </a:r>
          </a:p>
          <a:p>
            <a:pPr marL="742950" lvl="1" indent="-285750">
              <a:buFont typeface="Arial" panose="020B0604020202020204" pitchFamily="34" charset="0"/>
              <a:buChar char="•"/>
            </a:pPr>
            <a:r>
              <a:rPr lang="en-US" dirty="0"/>
              <a:t>Transactions per customer </a:t>
            </a:r>
          </a:p>
          <a:p>
            <a:pPr marL="285750" indent="-285750">
              <a:buFont typeface="Courier New" panose="02070309020205020404" pitchFamily="49" charset="0"/>
              <a:buChar char="o"/>
            </a:pPr>
            <a:r>
              <a:rPr lang="en-US" dirty="0"/>
              <a:t>Trial stores did not show a consistent increase in sales compared to control stores </a:t>
            </a:r>
          </a:p>
          <a:p>
            <a:pPr marL="285750" indent="-285750">
              <a:buFont typeface="Courier New" panose="02070309020205020404" pitchFamily="49" charset="0"/>
              <a:buChar char="o"/>
            </a:pPr>
            <a:r>
              <a:rPr lang="en-US" dirty="0"/>
              <a:t>Observed differences were aligned with normal business fluctuations </a:t>
            </a:r>
          </a:p>
          <a:p>
            <a:pPr marL="285750" indent="-285750">
              <a:buFont typeface="Courier New" panose="02070309020205020404" pitchFamily="49" charset="0"/>
              <a:buChar char="o"/>
            </a:pPr>
            <a:r>
              <a:rPr lang="en-US" dirty="0"/>
              <a:t>No strong evidence that trial layouts improved store performance</a:t>
            </a:r>
          </a:p>
        </p:txBody>
      </p:sp>
    </p:spTree>
    <p:extLst>
      <p:ext uri="{BB962C8B-B14F-4D97-AF65-F5344CB8AC3E}">
        <p14:creationId xmlns:p14="http://schemas.microsoft.com/office/powerpoint/2010/main" val="1173541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65FDE-CD9E-44EE-9F26-052053E6C0D4}"/>
              </a:ext>
            </a:extLst>
          </p:cNvPr>
          <p:cNvSpPr>
            <a:spLocks noGrp="1"/>
          </p:cNvSpPr>
          <p:nvPr>
            <p:ph type="title"/>
          </p:nvPr>
        </p:nvSpPr>
        <p:spPr>
          <a:xfrm>
            <a:off x="1162050" y="400050"/>
            <a:ext cx="10227310" cy="971550"/>
          </a:xfrm>
        </p:spPr>
        <p:txBody>
          <a:bodyPr/>
          <a:lstStyle/>
          <a:p>
            <a:r>
              <a:rPr lang="en-AU" dirty="0"/>
              <a:t>01</a:t>
            </a:r>
            <a:r>
              <a:rPr lang="en-IN" dirty="0"/>
              <a:t>Customer Insights</a:t>
            </a:r>
            <a:endParaRPr lang="en-AU" dirty="0"/>
          </a:p>
        </p:txBody>
      </p:sp>
      <p:sp>
        <p:nvSpPr>
          <p:cNvPr id="19" name="Rectangle 10">
            <a:extLst>
              <a:ext uri="{FF2B5EF4-FFF2-40B4-BE49-F238E27FC236}">
                <a16:creationId xmlns:a16="http://schemas.microsoft.com/office/drawing/2014/main" id="{29EE5A48-DC27-B22B-2DD1-B27B02A521F5}"/>
              </a:ext>
            </a:extLst>
          </p:cNvPr>
          <p:cNvSpPr>
            <a:spLocks noGrp="1" noChangeArrowheads="1"/>
          </p:cNvSpPr>
          <p:nvPr>
            <p:ph type="body" idx="1"/>
          </p:nvPr>
        </p:nvSpPr>
        <p:spPr bwMode="auto">
          <a:xfrm>
            <a:off x="1201739" y="3041879"/>
            <a:ext cx="6103301"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Mainstream and Budget customers drive most chip sales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Young Singles/Couples and Families are key segments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Premium customers contribute less to total sales </a:t>
            </a:r>
          </a:p>
        </p:txBody>
      </p:sp>
      <p:graphicFrame>
        <p:nvGraphicFramePr>
          <p:cNvPr id="24" name="Chart 23">
            <a:extLst>
              <a:ext uri="{FF2B5EF4-FFF2-40B4-BE49-F238E27FC236}">
                <a16:creationId xmlns:a16="http://schemas.microsoft.com/office/drawing/2014/main" id="{2489D2A5-A29C-6AAE-7D76-04616361394D}"/>
              </a:ext>
            </a:extLst>
          </p:cNvPr>
          <p:cNvGraphicFramePr/>
          <p:nvPr>
            <p:extLst>
              <p:ext uri="{D42A27DB-BD31-4B8C-83A1-F6EECF244321}">
                <p14:modId xmlns:p14="http://schemas.microsoft.com/office/powerpoint/2010/main" val="1765526825"/>
              </p:ext>
            </p:extLst>
          </p:nvPr>
        </p:nvGraphicFramePr>
        <p:xfrm>
          <a:off x="6934200" y="2865120"/>
          <a:ext cx="5257800" cy="359283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176063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4EC22A1-04A8-4C1E-B24F-AD7AA2EA4F2E}"/>
              </a:ext>
            </a:extLst>
          </p:cNvPr>
          <p:cNvPicPr>
            <a:picLocks noChangeAspect="1"/>
          </p:cNvPicPr>
          <p:nvPr/>
        </p:nvPicPr>
        <p:blipFill>
          <a:blip r:embed="rId2"/>
          <a:stretch>
            <a:fillRect/>
          </a:stretch>
        </p:blipFill>
        <p:spPr>
          <a:xfrm>
            <a:off x="12316275" y="0"/>
            <a:ext cx="1993565" cy="1639966"/>
          </a:xfrm>
          <a:prstGeom prst="rect">
            <a:avLst/>
          </a:prstGeom>
        </p:spPr>
      </p:pic>
      <p:sp>
        <p:nvSpPr>
          <p:cNvPr id="5" name="Title 2">
            <a:extLst>
              <a:ext uri="{FF2B5EF4-FFF2-40B4-BE49-F238E27FC236}">
                <a16:creationId xmlns:a16="http://schemas.microsoft.com/office/drawing/2014/main" id="{17795918-D65E-CEFB-7F51-E66CEF692D71}"/>
              </a:ext>
            </a:extLst>
          </p:cNvPr>
          <p:cNvSpPr txBox="1">
            <a:spLocks/>
          </p:cNvSpPr>
          <p:nvPr/>
        </p:nvSpPr>
        <p:spPr>
          <a:xfrm>
            <a:off x="1162050" y="400050"/>
            <a:ext cx="10227310" cy="9715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Roboto" panose="02000000000000000000" pitchFamily="2" charset="0"/>
                <a:ea typeface="Roboto" panose="02000000000000000000" pitchFamily="2" charset="0"/>
                <a:cs typeface="+mj-cs"/>
              </a:defRPr>
            </a:lvl1pPr>
          </a:lstStyle>
          <a:p>
            <a:pPr algn="ctr"/>
            <a:r>
              <a:rPr lang="en-IN" dirty="0"/>
              <a:t>Category Overview</a:t>
            </a:r>
            <a:endParaRPr lang="en-AU" dirty="0"/>
          </a:p>
        </p:txBody>
      </p:sp>
      <p:sp>
        <p:nvSpPr>
          <p:cNvPr id="6" name="Text Placeholder 3">
            <a:extLst>
              <a:ext uri="{FF2B5EF4-FFF2-40B4-BE49-F238E27FC236}">
                <a16:creationId xmlns:a16="http://schemas.microsoft.com/office/drawing/2014/main" id="{AFCBEAB4-7DAF-F16F-BE27-3D19DBF993FB}"/>
              </a:ext>
            </a:extLst>
          </p:cNvPr>
          <p:cNvSpPr txBox="1">
            <a:spLocks/>
          </p:cNvSpPr>
          <p:nvPr/>
        </p:nvSpPr>
        <p:spPr>
          <a:xfrm>
            <a:off x="1262698" y="2111244"/>
            <a:ext cx="5516562" cy="251618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Chips category is highly influenced by customer segments </a:t>
            </a:r>
          </a:p>
          <a:p>
            <a:r>
              <a:rPr lang="en-US" dirty="0"/>
              <a:t>Budget and Mainstream dominate </a:t>
            </a:r>
          </a:p>
          <a:p>
            <a:r>
              <a:rPr lang="en-US" dirty="0"/>
              <a:t>Families and young consumers drive volume </a:t>
            </a:r>
          </a:p>
        </p:txBody>
      </p:sp>
      <p:graphicFrame>
        <p:nvGraphicFramePr>
          <p:cNvPr id="7" name="Chart 6">
            <a:extLst>
              <a:ext uri="{FF2B5EF4-FFF2-40B4-BE49-F238E27FC236}">
                <a16:creationId xmlns:a16="http://schemas.microsoft.com/office/drawing/2014/main" id="{A0E24C52-3801-24F3-D318-257AB6227DB0}"/>
              </a:ext>
            </a:extLst>
          </p:cNvPr>
          <p:cNvGraphicFramePr/>
          <p:nvPr>
            <p:extLst>
              <p:ext uri="{D42A27DB-BD31-4B8C-83A1-F6EECF244321}">
                <p14:modId xmlns:p14="http://schemas.microsoft.com/office/powerpoint/2010/main" val="2765073152"/>
              </p:ext>
            </p:extLst>
          </p:nvPr>
        </p:nvGraphicFramePr>
        <p:xfrm>
          <a:off x="6390640" y="1973952"/>
          <a:ext cx="5801360" cy="366103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143329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65FDE-CD9E-44EE-9F26-052053E6C0D4}"/>
              </a:ext>
            </a:extLst>
          </p:cNvPr>
          <p:cNvSpPr>
            <a:spLocks noGrp="1"/>
          </p:cNvSpPr>
          <p:nvPr>
            <p:ph type="title"/>
          </p:nvPr>
        </p:nvSpPr>
        <p:spPr>
          <a:xfrm>
            <a:off x="751840" y="633730"/>
            <a:ext cx="11440160" cy="1347470"/>
          </a:xfrm>
        </p:spPr>
        <p:txBody>
          <a:bodyPr/>
          <a:lstStyle/>
          <a:p>
            <a:r>
              <a:rPr lang="en-AU" sz="7800" dirty="0"/>
              <a:t>02 </a:t>
            </a:r>
            <a:r>
              <a:rPr lang="en-IN" sz="7800" dirty="0"/>
              <a:t>Control Store Selection</a:t>
            </a:r>
            <a:endParaRPr lang="en-AU" sz="7800" dirty="0"/>
          </a:p>
        </p:txBody>
      </p:sp>
      <p:sp>
        <p:nvSpPr>
          <p:cNvPr id="7" name="Rectangle 4">
            <a:extLst>
              <a:ext uri="{FF2B5EF4-FFF2-40B4-BE49-F238E27FC236}">
                <a16:creationId xmlns:a16="http://schemas.microsoft.com/office/drawing/2014/main" id="{628C4D32-467F-5AC1-F56D-BA836E3E66C2}"/>
              </a:ext>
            </a:extLst>
          </p:cNvPr>
          <p:cNvSpPr>
            <a:spLocks noGrp="1" noChangeArrowheads="1"/>
          </p:cNvSpPr>
          <p:nvPr>
            <p:ph type="body" idx="1"/>
          </p:nvPr>
        </p:nvSpPr>
        <p:spPr bwMode="auto">
          <a:xfrm>
            <a:off x="1201738" y="3236292"/>
            <a:ext cx="8294258" cy="2288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lvl="0" indent="-285750" eaLnBrk="0" fontAlgn="base" hangingPunct="0">
              <a:spcBef>
                <a:spcPct val="0"/>
              </a:spcBef>
              <a:spcAft>
                <a:spcPct val="0"/>
              </a:spcAft>
              <a:buFont typeface="Courier New" panose="02070309020205020404" pitchFamily="49" charset="0"/>
              <a:buChar char="o"/>
            </a:pPr>
            <a:r>
              <a:rPr lang="en-US" altLang="en-US" sz="2800" dirty="0">
                <a:solidFill>
                  <a:schemeClr val="tx1"/>
                </a:solidFill>
                <a:latin typeface="Roboto" panose="02000000000000000000" pitchFamily="2" charset="0"/>
                <a:ea typeface="Roboto" panose="02000000000000000000" pitchFamily="2" charset="0"/>
                <a:cs typeface="Roboto" panose="02000000000000000000" pitchFamily="2" charset="0"/>
              </a:rPr>
              <a:t>Control stores selected using correlation across: </a:t>
            </a:r>
          </a:p>
          <a:p>
            <a:pPr marL="742950" lvl="1" indent="-285750">
              <a:buFont typeface="Arial" panose="020B0604020202020204" pitchFamily="34" charset="0"/>
              <a:buChar char="•"/>
            </a:pPr>
            <a:r>
              <a:rPr lang="en-US" altLang="en-US" sz="2800" dirty="0">
                <a:solidFill>
                  <a:schemeClr val="tx1"/>
                </a:solidFill>
                <a:cs typeface="Roboto" panose="02000000000000000000" pitchFamily="2" charset="0"/>
              </a:rPr>
              <a:t>Sales </a:t>
            </a:r>
          </a:p>
          <a:p>
            <a:pPr marL="742950" lvl="1" indent="-285750">
              <a:buFont typeface="Arial" panose="020B0604020202020204" pitchFamily="34" charset="0"/>
              <a:buChar char="•"/>
            </a:pPr>
            <a:r>
              <a:rPr lang="en-US" altLang="en-US" sz="2800" dirty="0">
                <a:solidFill>
                  <a:schemeClr val="tx1"/>
                </a:solidFill>
                <a:cs typeface="Roboto" panose="02000000000000000000" pitchFamily="2" charset="0"/>
              </a:rPr>
              <a:t>Customers</a:t>
            </a:r>
            <a:endParaRPr kumimoji="0" lang="en-US" altLang="en-US" sz="28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endParaRP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Transactions per customer </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Example: Store 77 matched with Store 3 </a:t>
            </a:r>
          </a:p>
        </p:txBody>
      </p:sp>
    </p:spTree>
    <p:extLst>
      <p:ext uri="{BB962C8B-B14F-4D97-AF65-F5344CB8AC3E}">
        <p14:creationId xmlns:p14="http://schemas.microsoft.com/office/powerpoint/2010/main" val="3377478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3E30F50-ED63-4179-A426-2CF2BA3316E2}"/>
              </a:ext>
            </a:extLst>
          </p:cNvPr>
          <p:cNvPicPr>
            <a:picLocks noChangeAspect="1"/>
          </p:cNvPicPr>
          <p:nvPr/>
        </p:nvPicPr>
        <p:blipFill>
          <a:blip r:embed="rId2"/>
          <a:stretch>
            <a:fillRect/>
          </a:stretch>
        </p:blipFill>
        <p:spPr>
          <a:xfrm>
            <a:off x="12305402" y="0"/>
            <a:ext cx="1993565" cy="1822862"/>
          </a:xfrm>
          <a:prstGeom prst="rect">
            <a:avLst/>
          </a:prstGeom>
        </p:spPr>
      </p:pic>
      <p:graphicFrame>
        <p:nvGraphicFramePr>
          <p:cNvPr id="6" name="Chart 5">
            <a:extLst>
              <a:ext uri="{FF2B5EF4-FFF2-40B4-BE49-F238E27FC236}">
                <a16:creationId xmlns:a16="http://schemas.microsoft.com/office/drawing/2014/main" id="{73EFC3BF-76AB-D109-86CE-D92592DF7FAA}"/>
              </a:ext>
            </a:extLst>
          </p:cNvPr>
          <p:cNvGraphicFramePr/>
          <p:nvPr>
            <p:extLst>
              <p:ext uri="{D42A27DB-BD31-4B8C-83A1-F6EECF244321}">
                <p14:modId xmlns:p14="http://schemas.microsoft.com/office/powerpoint/2010/main" val="2527081138"/>
              </p:ext>
            </p:extLst>
          </p:nvPr>
        </p:nvGraphicFramePr>
        <p:xfrm>
          <a:off x="1005840" y="386080"/>
          <a:ext cx="10891520" cy="593344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523037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pPr algn="ctr"/>
            <a:r>
              <a:rPr lang="en-IN" sz="4400" dirty="0"/>
              <a:t>Key Insights</a:t>
            </a:r>
            <a:endParaRPr lang="en-AU" sz="4400" dirty="0"/>
          </a:p>
        </p:txBody>
      </p:sp>
      <p:pic>
        <p:nvPicPr>
          <p:cNvPr id="2" name="Picture 1">
            <a:extLst>
              <a:ext uri="{FF2B5EF4-FFF2-40B4-BE49-F238E27FC236}">
                <a16:creationId xmlns:a16="http://schemas.microsoft.com/office/drawing/2014/main" id="{40239337-863B-42AC-9406-AC9628F383DF}"/>
              </a:ext>
            </a:extLst>
          </p:cNvPr>
          <p:cNvPicPr>
            <a:picLocks noChangeAspect="1"/>
          </p:cNvPicPr>
          <p:nvPr/>
        </p:nvPicPr>
        <p:blipFill>
          <a:blip r:embed="rId2"/>
          <a:stretch>
            <a:fillRect/>
          </a:stretch>
        </p:blipFill>
        <p:spPr>
          <a:xfrm>
            <a:off x="12305518" y="0"/>
            <a:ext cx="1993565" cy="2005758"/>
          </a:xfrm>
          <a:prstGeom prst="rect">
            <a:avLst/>
          </a:prstGeom>
        </p:spPr>
      </p:pic>
      <p:sp>
        <p:nvSpPr>
          <p:cNvPr id="8" name="Rectangle 3">
            <a:extLst>
              <a:ext uri="{FF2B5EF4-FFF2-40B4-BE49-F238E27FC236}">
                <a16:creationId xmlns:a16="http://schemas.microsoft.com/office/drawing/2014/main" id="{97976745-11F7-24E0-B6B5-E601DC862477}"/>
              </a:ext>
            </a:extLst>
          </p:cNvPr>
          <p:cNvSpPr>
            <a:spLocks noChangeArrowheads="1"/>
          </p:cNvSpPr>
          <p:nvPr/>
        </p:nvSpPr>
        <p:spPr bwMode="auto">
          <a:xfrm>
            <a:off x="2107083" y="1851412"/>
            <a:ext cx="7900517"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Trial stores did not outperform control stores </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No consistent uplift across all locations </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Correlation alone is not sufficient for store comparison </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Performance differences reflect normal business variation </a:t>
            </a:r>
          </a:p>
        </p:txBody>
      </p:sp>
    </p:spTree>
    <p:extLst>
      <p:ext uri="{BB962C8B-B14F-4D97-AF65-F5344CB8AC3E}">
        <p14:creationId xmlns:p14="http://schemas.microsoft.com/office/powerpoint/2010/main" val="2676349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A9F6F-4FE0-983F-A0D4-FCD2B924DEF3}"/>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49FA8682-4156-C4A6-89B2-43DBDD98E910}"/>
              </a:ext>
            </a:extLst>
          </p:cNvPr>
          <p:cNvSpPr>
            <a:spLocks noGrp="1"/>
          </p:cNvSpPr>
          <p:nvPr>
            <p:ph type="body" sz="quarter" idx="10"/>
          </p:nvPr>
        </p:nvSpPr>
        <p:spPr/>
        <p:txBody>
          <a:bodyPr/>
          <a:lstStyle/>
          <a:p>
            <a:pPr algn="ctr"/>
            <a:r>
              <a:rPr lang="en-IN" sz="4400" dirty="0"/>
              <a:t>Recommendations</a:t>
            </a:r>
            <a:endParaRPr lang="en-AU" sz="4400" dirty="0"/>
          </a:p>
        </p:txBody>
      </p:sp>
      <p:pic>
        <p:nvPicPr>
          <p:cNvPr id="2" name="Picture 1">
            <a:extLst>
              <a:ext uri="{FF2B5EF4-FFF2-40B4-BE49-F238E27FC236}">
                <a16:creationId xmlns:a16="http://schemas.microsoft.com/office/drawing/2014/main" id="{1E01D9FA-E4D0-0639-101E-532F6056EA50}"/>
              </a:ext>
            </a:extLst>
          </p:cNvPr>
          <p:cNvPicPr>
            <a:picLocks noChangeAspect="1"/>
          </p:cNvPicPr>
          <p:nvPr/>
        </p:nvPicPr>
        <p:blipFill>
          <a:blip r:embed="rId2"/>
          <a:stretch>
            <a:fillRect/>
          </a:stretch>
        </p:blipFill>
        <p:spPr>
          <a:xfrm>
            <a:off x="12305518" y="0"/>
            <a:ext cx="1993565" cy="2005758"/>
          </a:xfrm>
          <a:prstGeom prst="rect">
            <a:avLst/>
          </a:prstGeom>
        </p:spPr>
      </p:pic>
      <p:sp>
        <p:nvSpPr>
          <p:cNvPr id="7" name="Rectangle 4">
            <a:extLst>
              <a:ext uri="{FF2B5EF4-FFF2-40B4-BE49-F238E27FC236}">
                <a16:creationId xmlns:a16="http://schemas.microsoft.com/office/drawing/2014/main" id="{EB72705E-F83D-20C9-BE5C-9B06E9326F3B}"/>
              </a:ext>
            </a:extLst>
          </p:cNvPr>
          <p:cNvSpPr>
            <a:spLocks noChangeArrowheads="1"/>
          </p:cNvSpPr>
          <p:nvPr/>
        </p:nvSpPr>
        <p:spPr bwMode="auto">
          <a:xfrm>
            <a:off x="2365375" y="2005758"/>
            <a:ext cx="8150225"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71500" marR="0" lvl="0" indent="-5715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Do not roll out new layout at this stage </a:t>
            </a:r>
          </a:p>
          <a:p>
            <a:pPr marL="571500" marR="0" lvl="0" indent="-5715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Conduct further testing </a:t>
            </a:r>
          </a:p>
          <a:p>
            <a:pPr marL="571500" marR="0" lvl="0" indent="-5715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Use better-matched control stores </a:t>
            </a:r>
          </a:p>
          <a:p>
            <a:pPr marL="571500" marR="0" lvl="0" indent="-5715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Extend trial duration </a:t>
            </a:r>
          </a:p>
        </p:txBody>
      </p:sp>
    </p:spTree>
    <p:extLst>
      <p:ext uri="{BB962C8B-B14F-4D97-AF65-F5344CB8AC3E}">
        <p14:creationId xmlns:p14="http://schemas.microsoft.com/office/powerpoint/2010/main" val="28102990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2CBE8F6-11D8-7893-AF3D-B928E4C2BCEF}"/>
              </a:ext>
            </a:extLst>
          </p:cNvPr>
          <p:cNvSpPr>
            <a:spLocks noGrp="1"/>
          </p:cNvSpPr>
          <p:nvPr>
            <p:ph type="body" sz="quarter" idx="10"/>
          </p:nvPr>
        </p:nvSpPr>
        <p:spPr>
          <a:xfrm>
            <a:off x="1196975" y="453370"/>
            <a:ext cx="10479600" cy="5866149"/>
          </a:xfrm>
        </p:spPr>
        <p:txBody>
          <a:bodyPr/>
          <a:lstStyle/>
          <a:p>
            <a:pPr algn="ctr">
              <a:lnSpc>
                <a:spcPct val="300000"/>
              </a:lnSpc>
            </a:pPr>
            <a:r>
              <a:rPr lang="en-IN" sz="8800" i="1" dirty="0">
                <a:cs typeface="Roboto" panose="02000000000000000000" pitchFamily="2" charset="0"/>
              </a:rPr>
              <a:t>Thank</a:t>
            </a:r>
            <a:r>
              <a:rPr lang="en-IN" sz="8800" i="1" dirty="0"/>
              <a:t> You</a:t>
            </a:r>
          </a:p>
        </p:txBody>
      </p:sp>
    </p:spTree>
    <p:extLst>
      <p:ext uri="{BB962C8B-B14F-4D97-AF65-F5344CB8AC3E}">
        <p14:creationId xmlns:p14="http://schemas.microsoft.com/office/powerpoint/2010/main" val="2503462122"/>
      </p:ext>
    </p:extLst>
  </p:cSld>
  <p:clrMapOvr>
    <a:masterClrMapping/>
  </p:clrMapOvr>
</p:sld>
</file>

<file path=ppt/theme/theme1.xml><?xml version="1.0" encoding="utf-8"?>
<a:theme xmlns:a="http://schemas.openxmlformats.org/drawingml/2006/main" name="Office Theme">
  <a:themeElements>
    <a:clrScheme name="Q.colours">
      <a:dk1>
        <a:srgbClr val="000005"/>
      </a:dk1>
      <a:lt1>
        <a:srgbClr val="FFFFFF"/>
      </a:lt1>
      <a:dk2>
        <a:srgbClr val="4A4A4E"/>
      </a:dk2>
      <a:lt2>
        <a:srgbClr val="ECE8E4"/>
      </a:lt2>
      <a:accent1>
        <a:srgbClr val="BCB5AC"/>
      </a:accent1>
      <a:accent2>
        <a:srgbClr val="736E68"/>
      </a:accent2>
      <a:accent3>
        <a:srgbClr val="93908E"/>
      </a:accent3>
      <a:accent4>
        <a:srgbClr val="C7C5C4"/>
      </a:accent4>
      <a:accent5>
        <a:srgbClr val="93908E"/>
      </a:accent5>
      <a:accent6>
        <a:srgbClr val="4A4A4E"/>
      </a:accent6>
      <a:hlink>
        <a:srgbClr val="3F68AD"/>
      </a:hlink>
      <a:folHlink>
        <a:srgbClr val="44B5C5"/>
      </a:folHlink>
    </a:clrScheme>
    <a:fontScheme name="Quantium">
      <a:majorFont>
        <a:latin typeface="Roboto Light"/>
        <a:ea typeface=""/>
        <a:cs typeface=""/>
      </a:majorFont>
      <a:minorFont>
        <a:latin typeface="Robo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CE8E4"/>
        </a:solidFill>
        <a:ln>
          <a:noFill/>
        </a:ln>
      </a:spPr>
      <a:bodyPr rtlCol="0" anchor="ctr"/>
      <a:lstStyle>
        <a:defPPr algn="ctr">
          <a:defRPr sz="1400" dirty="0" err="1" smtClean="0">
            <a:solidFill>
              <a:srgbClr val="000005"/>
            </a:solidFill>
            <a:latin typeface="Roboto Light" panose="02000000000000000000" pitchFamily="2" charset="0"/>
            <a:ea typeface="Roboto Light"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rgbClr val="000000"/>
          </a:solidFill>
          <a:prstDash val="solid"/>
          <a:tailEnd type="arrow"/>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chor="t">
        <a:noAutofit/>
      </a:bodyPr>
      <a:lstStyle>
        <a:defPPr algn="l">
          <a:defRPr sz="1200" dirty="0" err="1" smtClean="0">
            <a:latin typeface="Roboto Light" panose="02000000000000000000" pitchFamily="2" charset="0"/>
            <a:ea typeface="Roboto Light" panose="02000000000000000000" pitchFamily="2" charset="0"/>
          </a:defRPr>
        </a:defPPr>
      </a:lstStyle>
    </a:txDef>
  </a:objectDefaults>
  <a:extraClrSchemeLst/>
  <a:custClrLst>
    <a:custClr name="Bright White">
      <a:srgbClr val="FFFFFF"/>
    </a:custClr>
    <a:custClr name="Quantium Black">
      <a:srgbClr val="000005"/>
    </a:custClr>
    <a:custClr name="Quantium Chrome">
      <a:srgbClr val="ECE8E4"/>
    </a:custClr>
    <a:custClr name="Warm grey">
      <a:srgbClr val="BCB5AC"/>
    </a:custClr>
    <a:custClr name="Dark Warm grey">
      <a:srgbClr val="736D67"/>
    </a:custClr>
    <a:custClr name="Light grey">
      <a:srgbClr val="C7C5C4"/>
    </a:custClr>
    <a:custClr name="Grey">
      <a:srgbClr val="93908E"/>
    </a:custClr>
    <a:custClr name="Dark grey">
      <a:srgbClr val="4A4A4E"/>
    </a:custClr>
    <a:custClr name="Blue">
      <a:srgbClr val="3F68AD"/>
    </a:custClr>
    <a:custClr name="Cyan">
      <a:srgbClr val="44B5C4"/>
    </a:custClr>
    <a:custClr name="Turquoise">
      <a:srgbClr val="44D6A3"/>
    </a:custClr>
    <a:custClr name="Green">
      <a:srgbClr val="7FDD7C"/>
    </a:custClr>
    <a:custClr name="Yellow">
      <a:srgbClr val="EACC77"/>
    </a:custClr>
    <a:custClr name="Orange">
      <a:srgbClr val="EF9B47"/>
    </a:custClr>
    <a:custClr name="Coral">
      <a:srgbClr val="EF6347"/>
    </a:custClr>
    <a:custClr name="Burgundy">
      <a:srgbClr val="C96377"/>
    </a:custClr>
    <a:custClr name="Violet">
      <a:srgbClr val="8E72BF"/>
    </a:custClr>
  </a:custClrLst>
  <a:extLst>
    <a:ext uri="{05A4C25C-085E-4340-85A3-A5531E510DB2}">
      <thm15:themeFamily xmlns:thm15="http://schemas.microsoft.com/office/thememl/2012/main" name="Quantium_16.9.potx" id="{EC9CF05C-984A-4A76-946E-D6E0537A5C25}" vid="{59430933-CCF2-424B-AD23-CD78089B667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6398</TotalTime>
  <Words>502</Words>
  <Application>Microsoft Office PowerPoint</Application>
  <PresentationFormat>Widescreen</PresentationFormat>
  <Paragraphs>71</Paragraphs>
  <Slides>10</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Roboto</vt:lpstr>
      <vt:lpstr>Courier New</vt:lpstr>
      <vt:lpstr>Roboto Light</vt:lpstr>
      <vt:lpstr>Arial</vt:lpstr>
      <vt:lpstr>Calibri</vt:lpstr>
      <vt:lpstr>Roboto Medium</vt:lpstr>
      <vt:lpstr>Office Theme</vt:lpstr>
      <vt:lpstr>Retail Analytics – Chips Category Review</vt:lpstr>
      <vt:lpstr>PowerPoint Presentation</vt:lpstr>
      <vt:lpstr>PowerPoint Presentation</vt:lpstr>
      <vt:lpstr>01Customer Insights</vt:lpstr>
      <vt:lpstr>PowerPoint Presentation</vt:lpstr>
      <vt:lpstr>02 Control Store Selection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Quantium template</dc:title>
  <dc:creator>Eva Lewis</dc:creator>
  <cp:lastModifiedBy>Om Hole</cp:lastModifiedBy>
  <cp:revision>465</cp:revision>
  <dcterms:created xsi:type="dcterms:W3CDTF">2018-02-07T23:23:24Z</dcterms:created>
  <dcterms:modified xsi:type="dcterms:W3CDTF">2026-03-22T17:36:46Z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3a8a6ec-262f-4cc0-befe-9b4753855296_Enabled">
    <vt:lpwstr>True</vt:lpwstr>
  </property>
  <property fmtid="{D5CDD505-2E9C-101B-9397-08002B2CF9AE}" pid="3" name="MSIP_Label_e3a8a6ec-262f-4cc0-befe-9b4753855296_SiteId">
    <vt:lpwstr>6cf6dc61-aaec-4d60-8dd0-2007ec95b05e</vt:lpwstr>
  </property>
  <property fmtid="{D5CDD505-2E9C-101B-9397-08002B2CF9AE}" pid="4" name="MSIP_Label_e3a8a6ec-262f-4cc0-befe-9b4753855296_Owner">
    <vt:lpwstr>schopra@quantium.com</vt:lpwstr>
  </property>
  <property fmtid="{D5CDD505-2E9C-101B-9397-08002B2CF9AE}" pid="5" name="MSIP_Label_e3a8a6ec-262f-4cc0-befe-9b4753855296_SetDate">
    <vt:lpwstr>2020-06-02T06:01:07.0806670Z</vt:lpwstr>
  </property>
  <property fmtid="{D5CDD505-2E9C-101B-9397-08002B2CF9AE}" pid="6" name="MSIP_Label_e3a8a6ec-262f-4cc0-befe-9b4753855296_Name">
    <vt:lpwstr>Confidential</vt:lpwstr>
  </property>
  <property fmtid="{D5CDD505-2E9C-101B-9397-08002B2CF9AE}" pid="7" name="MSIP_Label_e3a8a6ec-262f-4cc0-befe-9b4753855296_Application">
    <vt:lpwstr>Microsoft Azure Information Protection</vt:lpwstr>
  </property>
  <property fmtid="{D5CDD505-2E9C-101B-9397-08002B2CF9AE}" pid="8" name="MSIP_Label_e3a8a6ec-262f-4cc0-befe-9b4753855296_ActionId">
    <vt:lpwstr>c33342ec-b9fd-424e-98aa-c560599c3e11</vt:lpwstr>
  </property>
  <property fmtid="{D5CDD505-2E9C-101B-9397-08002B2CF9AE}" pid="9" name="MSIP_Label_e3a8a6ec-262f-4cc0-befe-9b4753855296_Extended_MSFT_Method">
    <vt:lpwstr>Manual</vt:lpwstr>
  </property>
  <property fmtid="{D5CDD505-2E9C-101B-9397-08002B2CF9AE}" pid="10" name="Sensitivity">
    <vt:lpwstr>Confidential</vt:lpwstr>
  </property>
</Properties>
</file>