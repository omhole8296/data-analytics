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1" r:id="rId6"/>
    <p:sldId id="262" r:id="rId7"/>
  </p:sldIdLst>
  <p:sldSz cx="9144000" cy="5143500" type="screen16x9"/>
  <p:notesSz cx="6858000" cy="9144000"/>
  <p:embeddedFontLst>
    <p:embeddedFont>
      <p:font typeface="Roboto" panose="02000000000000000000" pitchFamily="2" charset="0"/>
      <p:regular r:id="rId9"/>
      <p:bold r:id="rId10"/>
      <p:italic r:id="rId11"/>
      <p:boldItalic r:id="rId12"/>
    </p:embeddedFont>
    <p:embeddedFont>
      <p:font typeface="Roboto Slab" pitchFamily="2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3561" autoAdjust="0"/>
  </p:normalViewPr>
  <p:slideViewPr>
    <p:cSldViewPr snapToGrid="0">
      <p:cViewPr varScale="1">
        <p:scale>
          <a:sx n="80" d="100"/>
          <a:sy n="80" d="100"/>
        </p:scale>
        <p:origin x="1522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1. Customer Data Input</a:t>
            </a:r>
            <a:br>
              <a:rPr lang="en-US" dirty="0"/>
            </a:br>
            <a:r>
              <a:rPr lang="en-US" dirty="0"/>
              <a:t>Age, Income, Credit Score, Credit Utilization, Missed Payments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2. Risk Prediction Model</a:t>
            </a:r>
            <a:br>
              <a:rPr lang="en-US" dirty="0"/>
            </a:br>
            <a:r>
              <a:rPr lang="en-US" dirty="0"/>
              <a:t>AI analyzes financial behavior and calculates delinquency risk score</a:t>
            </a:r>
            <a:endParaRPr lang="en-GB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3. Automated Actions</a:t>
            </a:r>
            <a:br>
              <a:rPr lang="en-US" dirty="0"/>
            </a:br>
            <a:r>
              <a:rPr lang="en-US" dirty="0"/>
              <a:t>Payment reminders, alerts, and early intervention for high-risk customers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4. Learning Loop</a:t>
            </a:r>
            <a:br>
              <a:rPr lang="en-US" dirty="0"/>
            </a:br>
            <a:r>
              <a:rPr lang="en-US" dirty="0"/>
              <a:t>Model improves using new repayment data</a:t>
            </a: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Fairness monitoring to prevent bias</a:t>
            </a:r>
          </a:p>
          <a:p>
            <a:r>
              <a:rPr lang="en-US" dirty="0"/>
              <a:t>Explainable AI for transparent decisions</a:t>
            </a:r>
          </a:p>
          <a:p>
            <a:r>
              <a:rPr lang="en-US" dirty="0"/>
              <a:t>Compliance with financial regulations</a:t>
            </a:r>
          </a:p>
          <a:p>
            <a:r>
              <a:rPr lang="en-US" dirty="0"/>
              <a:t>Human oversight for critical decisions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Business KPIs</a:t>
            </a:r>
            <a:endParaRPr lang="en-US" dirty="0"/>
          </a:p>
          <a:p>
            <a:r>
              <a:rPr lang="en-US" dirty="0"/>
              <a:t>Reduced delinquency rate</a:t>
            </a:r>
          </a:p>
          <a:p>
            <a:r>
              <a:rPr lang="en-US" dirty="0"/>
              <a:t>Lower collection costs</a:t>
            </a:r>
          </a:p>
          <a:p>
            <a:r>
              <a:rPr lang="en-US" dirty="0"/>
              <a:t>Faster risk detection</a:t>
            </a:r>
          </a:p>
          <a:p>
            <a:r>
              <a:rPr lang="en-US" b="1" dirty="0"/>
              <a:t>Customer Outcomes</a:t>
            </a:r>
            <a:endParaRPr lang="en-US" dirty="0"/>
          </a:p>
          <a:p>
            <a:r>
              <a:rPr lang="en-US" dirty="0"/>
              <a:t>Earlier financial assistance</a:t>
            </a:r>
          </a:p>
          <a:p>
            <a:r>
              <a:rPr lang="en-US" dirty="0"/>
              <a:t>Transparent decision making</a:t>
            </a:r>
          </a:p>
          <a:p>
            <a:r>
              <a:rPr lang="en-US" dirty="0"/>
              <a:t>Better customer experience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7369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/>
              <a:t>AI-Powered Collections Strategy</a:t>
            </a:r>
            <a:endParaRPr sz="3000"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Leveraging Agentic AI for Scalable, Fair, and Effective Debt Management at Geldium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en-IN" dirty="0"/>
              <a:t>AI-Powered Collections System Overview</a:t>
            </a:r>
            <a:endParaRPr dirty="0"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Step 1: Customer Data Input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600" dirty="0"/>
              <a:t>Customer demographic and financial data (Age, Income, Credit Score)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600" dirty="0"/>
              <a:t>Credit behavior indicators (Credit Utilization, Missed Payments)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600" dirty="0"/>
              <a:t>Loan and repayment information (Loan Balance, Account Tenure)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1600" dirty="0"/>
          </a:p>
          <a:p>
            <a:r>
              <a:rPr lang="en-US" dirty="0"/>
              <a:t>Step 2: Risk Prediction Model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600" dirty="0"/>
              <a:t>Machine learning model analyzes customer financial behavior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600" dirty="0"/>
              <a:t>Model calculates a </a:t>
            </a:r>
            <a:r>
              <a:rPr lang="en-US" sz="1600" b="1" dirty="0"/>
              <a:t>delinquency risk score</a:t>
            </a:r>
            <a:endParaRPr lang="en-US" sz="16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1600" dirty="0"/>
              <a:t>Customers are classified into </a:t>
            </a:r>
            <a:r>
              <a:rPr lang="en-US" sz="1600" b="1" dirty="0"/>
              <a:t>Low Risk, Medium Risk, and High Risk groups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en-US" dirty="0"/>
              <a:t>System Decision Process and Learning Loop</a:t>
            </a:r>
            <a:endParaRPr dirty="0"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dirty="0"/>
              <a:t>Step 3: Automated Decision &amp; Action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Low-risk customers → standard monitoring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Medium-risk customers → automated payment reminders and alerts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High-risk customers → early intervention from collections team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dirty="0"/>
          </a:p>
          <a:p>
            <a:r>
              <a:rPr lang="en-US" dirty="0"/>
              <a:t>Step 4: Continuous Learning Loop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System monitors payment outcomes and customer responses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New repayment data is added to the dataset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Predictive model retrains periodically to improve accuracy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rPr lang="en-US" b="1" dirty="0"/>
              <a:t>Role of Agentic AI in the Collections System</a:t>
            </a: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9E021DE-8D60-BE28-E8C4-1FD775CDFE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748870"/>
              </p:ext>
            </p:extLst>
          </p:nvPr>
        </p:nvGraphicFramePr>
        <p:xfrm>
          <a:off x="386800" y="1657351"/>
          <a:ext cx="8369300" cy="2771775"/>
        </p:xfrm>
        <a:graphic>
          <a:graphicData uri="http://schemas.openxmlformats.org/drawingml/2006/table">
            <a:tbl>
              <a:tblPr/>
              <a:tblGrid>
                <a:gridCol w="4184650">
                  <a:extLst>
                    <a:ext uri="{9D8B030D-6E8A-4147-A177-3AD203B41FA5}">
                      <a16:colId xmlns:a16="http://schemas.microsoft.com/office/drawing/2014/main" val="3863856949"/>
                    </a:ext>
                  </a:extLst>
                </a:gridCol>
                <a:gridCol w="4184650">
                  <a:extLst>
                    <a:ext uri="{9D8B030D-6E8A-4147-A177-3AD203B41FA5}">
                      <a16:colId xmlns:a16="http://schemas.microsoft.com/office/drawing/2014/main" val="4205253061"/>
                    </a:ext>
                  </a:extLst>
                </a:gridCol>
              </a:tblGrid>
              <a:tr h="554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Autonomous AI Activities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Human Oversight Activities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241015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Customer risk scoring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Review high-risk accounts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4680205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Automated payment reminders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Approve major collection actions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6669192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Monitoring repayment patterns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Handle complex or sensitive cases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301098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Updating customer risk levels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Monitor model performance and fairness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5738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en-US" dirty="0"/>
              <a:t>Responsible AI and Compliance Framework</a:t>
            </a:r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278E66-E140-7AB1-28D0-09AFF1E617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87900" y="1742685"/>
            <a:ext cx="780534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Fairness monitoring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ensure no customer group is unfairly targeted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Explainable AI models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understand how predictions are made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Regulatory compliance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financial regulations and audit requirements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Human-in-the-loop review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high-impact financial decisions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C1373-ECCB-8893-C88B-952E49559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Expected Business and Customer Impact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59607-54F3-CE30-20BB-21D4536BE7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7900" y="1390650"/>
            <a:ext cx="8368200" cy="3676650"/>
          </a:xfrm>
        </p:spPr>
        <p:txBody>
          <a:bodyPr>
            <a:normAutofit/>
          </a:bodyPr>
          <a:lstStyle/>
          <a:p>
            <a:r>
              <a:rPr lang="en-US" b="1" dirty="0"/>
              <a:t>Business KPIs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600" dirty="0"/>
              <a:t>Reduction in delinquency rates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600" dirty="0"/>
              <a:t>Lower operational collection costs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600" dirty="0"/>
              <a:t>Faster identification of high-risk customers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600" dirty="0"/>
              <a:t>Improved loan portfolio performance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dirty="0"/>
          </a:p>
          <a:p>
            <a:r>
              <a:rPr lang="en-US" b="1" dirty="0"/>
              <a:t>Customer Outcomes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600" dirty="0"/>
              <a:t>Early support for financially stressed customers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600" dirty="0"/>
              <a:t>More transparent and fair decision-making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600" dirty="0"/>
              <a:t>Improved customer communication and experience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600" dirty="0"/>
              <a:t>Greater trust in financial services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219242"/>
      </p:ext>
    </p:extLst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390</Words>
  <Application>Microsoft Office PowerPoint</Application>
  <PresentationFormat>On-screen Show (16:9)</PresentationFormat>
  <Paragraphs>64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Roboto Slab</vt:lpstr>
      <vt:lpstr>Arial</vt:lpstr>
      <vt:lpstr>Courier New</vt:lpstr>
      <vt:lpstr>Roboto</vt:lpstr>
      <vt:lpstr>Marina</vt:lpstr>
      <vt:lpstr>AI-Powered Collections Strategy</vt:lpstr>
      <vt:lpstr>AI-Powered Collections System Overview</vt:lpstr>
      <vt:lpstr>System Decision Process and Learning Loop</vt:lpstr>
      <vt:lpstr>Role of Agentic AI in the Collections System</vt:lpstr>
      <vt:lpstr>Responsible AI and Compliance Framework</vt:lpstr>
      <vt:lpstr>Expected Business and Customer Impact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Om Hole</cp:lastModifiedBy>
  <cp:revision>3</cp:revision>
  <dcterms:modified xsi:type="dcterms:W3CDTF">2026-03-16T16:53:37Z</dcterms:modified>
</cp:coreProperties>
</file>